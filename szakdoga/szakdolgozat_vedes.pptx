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81" r:id="rId4"/>
    <p:sldId id="258" r:id="rId5"/>
    <p:sldId id="259" r:id="rId6"/>
    <p:sldId id="263" r:id="rId7"/>
    <p:sldId id="262" r:id="rId8"/>
    <p:sldId id="261" r:id="rId9"/>
    <p:sldId id="264" r:id="rId10"/>
    <p:sldId id="271" r:id="rId11"/>
    <p:sldId id="273" r:id="rId12"/>
    <p:sldId id="265" r:id="rId13"/>
    <p:sldId id="274" r:id="rId14"/>
    <p:sldId id="266" r:id="rId15"/>
    <p:sldId id="275" r:id="rId16"/>
    <p:sldId id="267" r:id="rId17"/>
    <p:sldId id="272" r:id="rId18"/>
    <p:sldId id="270" r:id="rId19"/>
    <p:sldId id="276" r:id="rId20"/>
    <p:sldId id="277" r:id="rId21"/>
    <p:sldId id="278" r:id="rId22"/>
    <p:sldId id="279" r:id="rId23"/>
    <p:sldId id="282" r:id="rId24"/>
    <p:sldId id="289" r:id="rId25"/>
    <p:sldId id="291" r:id="rId26"/>
    <p:sldId id="260" r:id="rId27"/>
    <p:sldId id="292" r:id="rId28"/>
    <p:sldId id="283" r:id="rId29"/>
    <p:sldId id="290" r:id="rId30"/>
    <p:sldId id="284" r:id="rId31"/>
    <p:sldId id="285" r:id="rId32"/>
    <p:sldId id="286" r:id="rId33"/>
    <p:sldId id="287" r:id="rId34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702" autoAdjust="0"/>
    <p:restoredTop sz="69686" autoAdjust="0"/>
  </p:normalViewPr>
  <p:slideViewPr>
    <p:cSldViewPr snapToGrid="0">
      <p:cViewPr varScale="1">
        <p:scale>
          <a:sx n="78" d="100"/>
          <a:sy n="78" d="100"/>
        </p:scale>
        <p:origin x="12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5BC8E-5813-4F4E-B35B-0E3B0D0BF7D5}" type="datetimeFigureOut">
              <a:rPr lang="hu-HU" smtClean="0"/>
              <a:t>2026. 01. 05.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F544B-8942-4253-A6F4-42DBF943B8C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0009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600" dirty="0"/>
              <a:t>Köszöntök mindenkit.</a:t>
            </a:r>
          </a:p>
          <a:p>
            <a:endParaRPr lang="hu-HU" sz="1600" dirty="0"/>
          </a:p>
          <a:p>
            <a:r>
              <a:rPr lang="hu-HU" sz="1600" dirty="0"/>
              <a:t>A nevem </a:t>
            </a:r>
            <a:r>
              <a:rPr lang="hu-HU" sz="1600" dirty="0" err="1"/>
              <a:t>Czotter</a:t>
            </a:r>
            <a:r>
              <a:rPr lang="hu-HU" sz="1600" dirty="0"/>
              <a:t> Benedek , és a ‚</a:t>
            </a:r>
            <a:r>
              <a:rPr lang="hu-H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Klaszterezési</a:t>
            </a:r>
            <a:r>
              <a:rPr lang="hu-H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technikák alkalmazása az </a:t>
            </a:r>
            <a:r>
              <a:rPr lang="hu-HU" sz="2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embedding</a:t>
            </a:r>
            <a:r>
              <a:rPr lang="hu-HU" sz="2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-alapú visszakeresés hatékonyságának növelésére RAG környezetben</a:t>
            </a:r>
            <a:r>
              <a:rPr lang="hu-HU" sz="1600" dirty="0"/>
              <a:t>' című munkámat szeretném bemutatni, amely Dr. Szűcs Gábor konzulensi vezetésével készült.</a:t>
            </a:r>
          </a:p>
          <a:p>
            <a:endParaRPr lang="hu-HU" sz="1600" dirty="0"/>
          </a:p>
          <a:p>
            <a:r>
              <a:rPr lang="hu-HU" sz="2400" dirty="0"/>
              <a:t>A nagy nyelvi modellek forradalmasították a szövegértést, de komoly korlátjuk, hogy a tudásuk be van fagyasztva a tanítási adatokba, és hajlamosak 'hallucinálni', vagyis valótlan dolgokat állítani. Erre a problémára nyújt megoldást a RAG, azaz </a:t>
            </a:r>
            <a:r>
              <a:rPr lang="hu-HU" sz="2400" dirty="0" err="1"/>
              <a:t>Retrieval</a:t>
            </a:r>
            <a:r>
              <a:rPr lang="hu-HU" sz="2400" dirty="0"/>
              <a:t> </a:t>
            </a:r>
            <a:r>
              <a:rPr lang="hu-HU" sz="2400" dirty="0" err="1"/>
              <a:t>Augmented</a:t>
            </a:r>
            <a:r>
              <a:rPr lang="hu-HU" sz="2400" dirty="0"/>
              <a:t> </a:t>
            </a:r>
            <a:r>
              <a:rPr lang="hu-HU" sz="2400" dirty="0" err="1"/>
              <a:t>Generation</a:t>
            </a:r>
            <a:r>
              <a:rPr lang="hu-HU" sz="2400" dirty="0"/>
              <a:t>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4051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RAG egy olyan architektúra, ami kiegészíti a nyelvi modelleket egy külső tudásbázissal.</a:t>
            </a:r>
          </a:p>
          <a:p>
            <a:endParaRPr lang="hu-HU" dirty="0"/>
          </a:p>
          <a:p>
            <a:r>
              <a:rPr lang="hu-HU" dirty="0"/>
              <a:t>1. A felhasználó elküld egy kérdést.</a:t>
            </a:r>
          </a:p>
          <a:p>
            <a:r>
              <a:rPr lang="hu-HU" dirty="0"/>
              <a:t>2. Ahelyett, hogy ez egyből az LLM-</a:t>
            </a:r>
            <a:r>
              <a:rPr lang="hu-HU" dirty="0" err="1"/>
              <a:t>hez</a:t>
            </a:r>
            <a:r>
              <a:rPr lang="hu-HU" dirty="0"/>
              <a:t> kerülne, a rendszer először egy '</a:t>
            </a:r>
            <a:r>
              <a:rPr lang="hu-HU" dirty="0" err="1"/>
              <a:t>Retrieval</a:t>
            </a:r>
            <a:r>
              <a:rPr lang="hu-HU" dirty="0"/>
              <a:t>', azaz visszakeresési lépést végez. A kérdés alapján megkeresi a legrelevánsabb információkat egy dokumentumtárból, ami egy vektor adatbázisban van tárolva.</a:t>
            </a:r>
          </a:p>
          <a:p>
            <a:r>
              <a:rPr lang="hu-HU" dirty="0"/>
              <a:t>3. A rendszer kiválasztja a legjobb </a:t>
            </a:r>
            <a:r>
              <a:rPr lang="hu-HU" dirty="0" err="1"/>
              <a:t>K</a:t>
            </a:r>
            <a:r>
              <a:rPr lang="hu-HU" dirty="0"/>
              <a:t> darab releváns szövegrészletet, vagy '</a:t>
            </a:r>
            <a:r>
              <a:rPr lang="hu-HU" dirty="0" err="1"/>
              <a:t>chunk</a:t>
            </a:r>
            <a:r>
              <a:rPr lang="hu-HU" dirty="0"/>
              <a:t>-ot’.</a:t>
            </a:r>
          </a:p>
          <a:p>
            <a:r>
              <a:rPr lang="hu-HU" dirty="0"/>
              <a:t>4. Végül ezeket a szövegrészleteket, a felhasználó eredeti kérdésével együtt, elküldi a nyelvi modellnek.</a:t>
            </a:r>
          </a:p>
          <a:p>
            <a:r>
              <a:rPr lang="hu-HU" dirty="0"/>
              <a:t>5. Az LLM így már a friss, releváns kontextus alapján generál egy pontos választ.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Ez a módszer csökkenti a hallucinációt és lehetővé teszi, hogy a modell naprakész adatokból dolgozzon.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7021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Olyan </a:t>
            </a:r>
            <a:r>
              <a:rPr lang="hu-HU" dirty="0" err="1"/>
              <a:t>klaszterezés</a:t>
            </a:r>
            <a:r>
              <a:rPr lang="hu-HU" dirty="0"/>
              <a:t>-alapú </a:t>
            </a:r>
            <a:r>
              <a:rPr lang="hu-HU" dirty="0" err="1"/>
              <a:t>retrieval</a:t>
            </a:r>
            <a:r>
              <a:rPr lang="hu-HU" dirty="0"/>
              <a:t> megközelítés kidolgozása, amely gyors, hatékony és lehetővé teszi új dokumentumok zökkenőmentes integrálását a tudásbázisba.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76145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munkám során a </a:t>
            </a:r>
            <a:r>
              <a:rPr lang="hu-HU" dirty="0" err="1"/>
              <a:t>SQuAD</a:t>
            </a:r>
            <a:r>
              <a:rPr lang="hu-HU" dirty="0"/>
              <a:t>, vagyis a Stanford </a:t>
            </a:r>
            <a:r>
              <a:rPr lang="hu-HU" dirty="0" err="1"/>
              <a:t>Question</a:t>
            </a:r>
            <a:r>
              <a:rPr lang="hu-HU" dirty="0"/>
              <a:t> </a:t>
            </a:r>
            <a:r>
              <a:rPr lang="hu-HU" dirty="0" err="1"/>
              <a:t>Answering</a:t>
            </a:r>
            <a:r>
              <a:rPr lang="hu-HU" dirty="0"/>
              <a:t> </a:t>
            </a:r>
            <a:r>
              <a:rPr lang="hu-HU" dirty="0" err="1"/>
              <a:t>Datasetet</a:t>
            </a:r>
            <a:r>
              <a:rPr lang="hu-HU" dirty="0"/>
              <a:t> használtam, amely szövegeket és hozzájuk tartozó kérdéseket tartalmaz.</a:t>
            </a:r>
          </a:p>
          <a:p>
            <a:endParaRPr lang="hu-HU" dirty="0"/>
          </a:p>
          <a:p>
            <a:r>
              <a:rPr lang="hu-HU" dirty="0"/>
              <a:t>Az adatok előfeldolgozása két fő lépésből állt:</a:t>
            </a:r>
          </a:p>
          <a:p>
            <a:r>
              <a:rPr lang="hu-HU" dirty="0"/>
              <a:t>	1. Először egy általános szövegtisztítást végeztem.</a:t>
            </a:r>
          </a:p>
          <a:p>
            <a:r>
              <a:rPr lang="hu-HU" dirty="0"/>
              <a:t>	2. Ezután '</a:t>
            </a:r>
            <a:r>
              <a:rPr lang="hu-HU" dirty="0" err="1"/>
              <a:t>Semantic</a:t>
            </a:r>
            <a:r>
              <a:rPr lang="hu-HU" dirty="0"/>
              <a:t> </a:t>
            </a:r>
            <a:r>
              <a:rPr lang="hu-HU" dirty="0" err="1"/>
              <a:t>Chunking</a:t>
            </a:r>
            <a:r>
              <a:rPr lang="hu-HU" dirty="0"/>
              <a:t>'-ot, vagyis szemantikus darabolást alkalmaztam. Ez azért fontos, mert nem csak fix méretű darabokra vágjuk a szöveget, hanem megpróbáljuk a logikailag összetartozó részeket egyben tartani. Ez nagyban segíti a későbbi visszakeresés pontosságát.</a:t>
            </a:r>
          </a:p>
          <a:p>
            <a:endParaRPr lang="hu-HU" dirty="0"/>
          </a:p>
          <a:p>
            <a:r>
              <a:rPr lang="hu-HU" dirty="0"/>
              <a:t>Az ábrán a </a:t>
            </a:r>
            <a:r>
              <a:rPr lang="hu-HU" dirty="0" err="1"/>
              <a:t>SQuAD</a:t>
            </a:r>
            <a:r>
              <a:rPr lang="hu-HU" dirty="0"/>
              <a:t> adathalmazban található szövegek hosszúságának eloszlása látható.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6004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Miután megvannak a szövegdarabok, azokat 'vektoros reprezentációvá' kell alakítani. Ezt nevezzük szövegbeágyazásnak vagy más szóval </a:t>
            </a:r>
            <a:r>
              <a:rPr lang="hu-HU" dirty="0" err="1"/>
              <a:t>embedding-nek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Egy </a:t>
            </a:r>
            <a:r>
              <a:rPr lang="hu-HU" dirty="0" err="1"/>
              <a:t>embedding</a:t>
            </a:r>
            <a:r>
              <a:rPr lang="hu-HU" dirty="0"/>
              <a:t> modell minden szövegrészlethez hozzárendel egy több száz dimenziós vektort. A modell lényege, hogy a hasonló jelentésű szövegek (mint pl. '</a:t>
            </a:r>
            <a:r>
              <a:rPr lang="hu-HU" dirty="0" err="1"/>
              <a:t>cat</a:t>
            </a:r>
            <a:r>
              <a:rPr lang="hu-HU" dirty="0"/>
              <a:t>' és 'kitten') közel kerülnek egymáshoz ebben a vektortérben, míg az eltérő jelentésűek (mint '</a:t>
            </a:r>
            <a:r>
              <a:rPr lang="hu-HU" dirty="0" err="1"/>
              <a:t>cat</a:t>
            </a:r>
            <a:r>
              <a:rPr lang="hu-HU" dirty="0"/>
              <a:t>' és '</a:t>
            </a:r>
            <a:r>
              <a:rPr lang="hu-HU" dirty="0" err="1"/>
              <a:t>houses</a:t>
            </a:r>
            <a:r>
              <a:rPr lang="hu-HU" dirty="0"/>
              <a:t>') távol.</a:t>
            </a:r>
          </a:p>
          <a:p>
            <a:endParaRPr lang="hu-HU" dirty="0"/>
          </a:p>
          <a:p>
            <a:r>
              <a:rPr lang="hu-HU" dirty="0"/>
              <a:t>Én két modellt vizsgáltam: egy kisebb, 384 dimenziós '</a:t>
            </a:r>
            <a:r>
              <a:rPr lang="hu-HU" dirty="0" err="1"/>
              <a:t>all-MiniLM</a:t>
            </a:r>
            <a:r>
              <a:rPr lang="hu-HU" dirty="0"/>
              <a:t>' modellt, és egy nagyobb, 1024 dimenziós '</a:t>
            </a:r>
            <a:r>
              <a:rPr lang="hu-HU" dirty="0" err="1"/>
              <a:t>Snowflake</a:t>
            </a:r>
            <a:r>
              <a:rPr lang="hu-HU" dirty="0"/>
              <a:t> </a:t>
            </a:r>
            <a:r>
              <a:rPr lang="hu-HU" dirty="0" err="1"/>
              <a:t>Arctic-embed</a:t>
            </a:r>
            <a:r>
              <a:rPr lang="hu-HU" dirty="0"/>
              <a:t>' modellt.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40692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Különböző hasonlóságmérési technikák léteznek, hogy ebben a vektortérben közelséget lehessen vizsgálni.</a:t>
            </a:r>
          </a:p>
          <a:p>
            <a:endParaRPr lang="hu-HU" dirty="0"/>
          </a:p>
          <a:p>
            <a:r>
              <a:rPr lang="hu-HU" dirty="0"/>
              <a:t>A két leggyakoribb a </a:t>
            </a:r>
            <a:r>
              <a:rPr lang="hu-HU" b="1" dirty="0"/>
              <a:t>Koszinusz hasonlóság</a:t>
            </a:r>
            <a:r>
              <a:rPr lang="hu-HU" dirty="0"/>
              <a:t> , ami a két vektor által bezárt szöget méri.</a:t>
            </a:r>
          </a:p>
          <a:p>
            <a:endParaRPr lang="hu-HU" dirty="0"/>
          </a:p>
          <a:p>
            <a:r>
              <a:rPr lang="hu-HU" dirty="0"/>
              <a:t>és az </a:t>
            </a:r>
            <a:r>
              <a:rPr lang="hu-HU" b="1" dirty="0"/>
              <a:t>Euklideszi távolság</a:t>
            </a:r>
            <a:r>
              <a:rPr lang="hu-HU" dirty="0"/>
              <a:t>, ami a két vektorvégpont közötti egyenes távolságot méri.</a:t>
            </a:r>
          </a:p>
          <a:p>
            <a:endParaRPr lang="hu-HU" dirty="0"/>
          </a:p>
          <a:p>
            <a:r>
              <a:rPr lang="hu-HU" dirty="0"/>
              <a:t>Magas dimenziós vektor terekben a koszinusz hasonlóság használata a gyakoribb, így munkám során én is ezt alkalmaztam.</a:t>
            </a:r>
          </a:p>
          <a:p>
            <a:endParaRPr lang="hu-HU" dirty="0"/>
          </a:p>
          <a:p>
            <a:r>
              <a:rPr lang="hu-HU" dirty="0"/>
              <a:t>Koszinusz </a:t>
            </a:r>
            <a:r>
              <a:rPr lang="hu-HU" dirty="0" err="1"/>
              <a:t>vs</a:t>
            </a:r>
            <a:r>
              <a:rPr lang="hu-HU" dirty="0"/>
              <a:t> euklideszi:</a:t>
            </a:r>
          </a:p>
          <a:p>
            <a:r>
              <a:rPr lang="hu-HU" dirty="0"/>
              <a:t>A koszinusz hasonlóság a vektorok iránya (szöge) alapján mér, míg az euklideszi távolság a köztük lévő tényleges távolságot nézi, de normalizált adatokon mindkettő ugyanazt a találati rangsort adja. A döntő különbség a számítási hatékonyság, mivel a koszinusz hasonlóság egy gyorsabb skaláris szorzattá egyszerűsödik, míg az euklideszi távolság számítása többletmunkát igényel. Ezenkívül a koszinusz hasonlóság (-1-től 1-ig terjedő skálája) gyakran intuitívabb és eltérő küszöbértékeket igényel, mint az euklideszi távolság (0-tól 2-ig terjedő skálája).</a:t>
            </a:r>
          </a:p>
          <a:p>
            <a:r>
              <a:rPr lang="hu-HU" dirty="0"/>
              <a:t>L2 normalizált vektorok esetén (hosszuk 1) a két metrika átváltható egymásba, tökéletesen ugyanazt az eredményt adják.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5938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És itt érkezünk el a kutatásom központi problémájához. Az alapértelmezett megközelítés a '</a:t>
            </a:r>
            <a:r>
              <a:rPr lang="hu-HU" dirty="0" err="1"/>
              <a:t>Brute</a:t>
            </a:r>
            <a:r>
              <a:rPr lang="hu-HU" dirty="0"/>
              <a:t> </a:t>
            </a:r>
            <a:r>
              <a:rPr lang="hu-HU" dirty="0" err="1"/>
              <a:t>force</a:t>
            </a:r>
            <a:r>
              <a:rPr lang="hu-HU" dirty="0"/>
              <a:t>' keresés. Ez azt jelenti, hogy minden egyes felhasználói kérdésnél a rendszer a kérdés </a:t>
            </a:r>
            <a:r>
              <a:rPr lang="hu-HU" dirty="0" err="1"/>
              <a:t>vektorát</a:t>
            </a:r>
            <a:r>
              <a:rPr lang="hu-HU" dirty="0"/>
              <a:t> összehasonlítja az adatbázisban lévő </a:t>
            </a:r>
            <a:r>
              <a:rPr lang="hu-HU" i="1" dirty="0"/>
              <a:t>összes</a:t>
            </a:r>
            <a:r>
              <a:rPr lang="hu-HU" dirty="0"/>
              <a:t> (akár több millió) szövegdarab </a:t>
            </a:r>
            <a:r>
              <a:rPr lang="hu-HU" dirty="0" err="1"/>
              <a:t>vektorával</a:t>
            </a:r>
            <a:r>
              <a:rPr lang="hu-HU" dirty="0"/>
              <a:t>. Ez rendkívül pontos, de nagyon lassú és számításigényes.</a:t>
            </a:r>
          </a:p>
          <a:p>
            <a:endParaRPr lang="hu-HU" dirty="0"/>
          </a:p>
          <a:p>
            <a:r>
              <a:rPr lang="hu-HU" dirty="0"/>
              <a:t>Az én javasolt módszerem a </a:t>
            </a:r>
            <a:r>
              <a:rPr lang="hu-HU" dirty="0" err="1"/>
              <a:t>klaszterezésen</a:t>
            </a:r>
            <a:r>
              <a:rPr lang="hu-HU" dirty="0"/>
              <a:t> alapul.</a:t>
            </a:r>
          </a:p>
          <a:p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Először is, az összes </a:t>
            </a:r>
            <a:r>
              <a:rPr lang="hu-HU" dirty="0" err="1"/>
              <a:t>embedding</a:t>
            </a:r>
            <a:r>
              <a:rPr lang="hu-HU" dirty="0"/>
              <a:t> vektort előre </a:t>
            </a:r>
            <a:r>
              <a:rPr lang="hu-HU" dirty="0" err="1"/>
              <a:t>klaszterezzük</a:t>
            </a:r>
            <a:r>
              <a:rPr lang="hu-HU" dirty="0"/>
              <a:t>.</a:t>
            </a:r>
          </a:p>
          <a:p>
            <a:pPr marL="228600" indent="-228600">
              <a:buAutoNum type="arabicPeriod"/>
            </a:pPr>
            <a:endParaRPr lang="hu-HU" dirty="0"/>
          </a:p>
          <a:p>
            <a:r>
              <a:rPr lang="hu-HU" dirty="0"/>
              <a:t>2. Amikor bejön egy kérdés, először csak a klaszterek középpontjaihoz hasonlítjuk.</a:t>
            </a:r>
          </a:p>
          <a:p>
            <a:endParaRPr lang="hu-HU" dirty="0"/>
          </a:p>
          <a:p>
            <a:r>
              <a:rPr lang="hu-HU" dirty="0"/>
              <a:t>3. Miután megtaláltuk a legrelevánsabb klasztereket, a részletes, lassabb keresést már </a:t>
            </a:r>
            <a:r>
              <a:rPr lang="hu-HU" i="0" dirty="0"/>
              <a:t>csak</a:t>
            </a:r>
            <a:r>
              <a:rPr lang="hu-HU" dirty="0"/>
              <a:t> ezeken a klasztereken belül végezzük el.</a:t>
            </a:r>
          </a:p>
          <a:p>
            <a:endParaRPr lang="hu-HU" dirty="0"/>
          </a:p>
          <a:p>
            <a:r>
              <a:rPr lang="hu-HU" dirty="0"/>
              <a:t>Ez drasztikusan lecsökkenti a keresési teret. </a:t>
            </a:r>
            <a:r>
              <a:rPr lang="hu-HU" b="1" dirty="0"/>
              <a:t>Fontos kihívás </a:t>
            </a:r>
            <a:r>
              <a:rPr lang="hu-HU" dirty="0"/>
              <a:t>volt továbbá az újonnan érkező dokumentumok gyors integrálása is.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1711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az ábra a teljes, javasolt RAG-folyamatot mutatja be, immár a </a:t>
            </a:r>
            <a:r>
              <a:rPr lang="hu-HU" dirty="0" err="1"/>
              <a:t>klaszterezéssel</a:t>
            </a:r>
            <a:r>
              <a:rPr lang="hu-HU" dirty="0"/>
              <a:t> kiegészítve.</a:t>
            </a:r>
          </a:p>
          <a:p>
            <a:endParaRPr lang="hu-HU" dirty="0"/>
          </a:p>
          <a:p>
            <a:r>
              <a:rPr lang="hu-HU" dirty="0"/>
              <a:t>A '</a:t>
            </a:r>
            <a:r>
              <a:rPr lang="hu-HU" dirty="0" err="1"/>
              <a:t>User</a:t>
            </a:r>
            <a:r>
              <a:rPr lang="hu-HU" dirty="0"/>
              <a:t> </a:t>
            </a:r>
            <a:r>
              <a:rPr lang="hu-HU" dirty="0" err="1"/>
              <a:t>Query</a:t>
            </a:r>
            <a:r>
              <a:rPr lang="hu-HU" dirty="0"/>
              <a:t>’ beérkezését követően, megkeressük a legjobb klasztereket, majd azokon belül a legjobb szövegrészeket.</a:t>
            </a:r>
          </a:p>
          <a:p>
            <a:endParaRPr lang="hu-HU" dirty="0"/>
          </a:p>
          <a:p>
            <a:r>
              <a:rPr lang="hu-HU" dirty="0"/>
              <a:t>Amikor új dokumentumok érkeznek, azokat feldolgozzuk, és egy online </a:t>
            </a:r>
            <a:r>
              <a:rPr lang="hu-HU" dirty="0" err="1"/>
              <a:t>klaszterezési</a:t>
            </a:r>
            <a:r>
              <a:rPr lang="hu-HU" dirty="0"/>
              <a:t> folyamat segítségével frissítjük a klasztereket a vektoradatbázisban. Ez a kulcsa a dinamikus tudásbázisnak.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9280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Annak érdekében hogy hatékonyan tudjuk kezelni az új adatokat anélkül, hogy minden alkalommal újra kellene futtatni a teljes </a:t>
            </a:r>
            <a:r>
              <a:rPr lang="hu-HU" dirty="0" err="1"/>
              <a:t>klaszterezést</a:t>
            </a:r>
            <a:r>
              <a:rPr lang="hu-HU" dirty="0"/>
              <a:t>. Egy '</a:t>
            </a:r>
            <a:r>
              <a:rPr lang="hu-HU" dirty="0" err="1"/>
              <a:t>OnlineKMeans</a:t>
            </a:r>
            <a:r>
              <a:rPr lang="hu-HU" dirty="0"/>
              <a:t>' algoritmust valósítottam meg.</a:t>
            </a:r>
          </a:p>
          <a:p>
            <a:endParaRPr lang="hu-HU" dirty="0"/>
          </a:p>
          <a:p>
            <a:r>
              <a:rPr lang="hu-HU" dirty="0"/>
              <a:t>A rendszer '</a:t>
            </a:r>
            <a:r>
              <a:rPr lang="hu-HU" dirty="0" err="1"/>
              <a:t>KMeans</a:t>
            </a:r>
            <a:r>
              <a:rPr lang="hu-HU" dirty="0"/>
              <a:t>++' inicializálással indul, majd az új adatok érkezésekor </a:t>
            </a:r>
            <a:r>
              <a:rPr lang="hu-HU" b="1" dirty="0"/>
              <a:t>súlyozott</a:t>
            </a:r>
            <a:r>
              <a:rPr lang="hu-HU" dirty="0"/>
              <a:t> </a:t>
            </a:r>
            <a:r>
              <a:rPr lang="hu-HU" b="1" dirty="0"/>
              <a:t>átlagolással</a:t>
            </a:r>
            <a:r>
              <a:rPr lang="hu-HU" dirty="0"/>
              <a:t> frissíti a </a:t>
            </a:r>
            <a:r>
              <a:rPr lang="hu-HU" dirty="0" err="1"/>
              <a:t>centroidokat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Az algoritmus képes új klasztereket létrehozni , ha egy adat nagyon 'kilóg' a meglévőkből, és összevonni meglévő klasztereket, ha azok túl közel kerülnek egymáshoz.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Az ábrákon látszik, ahogy 250, 500, 750 majd 1000 minta hozzáadásával az algoritmus fokozatosan módosítja' a klaszterközéppontokat, új klasztereket hoz létre és meglévőket von össze.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10827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Ezen a dián az általam implementált Online </a:t>
            </a:r>
            <a:r>
              <a:rPr lang="hu-HU" dirty="0" err="1"/>
              <a:t>KMeans</a:t>
            </a:r>
            <a:r>
              <a:rPr lang="hu-HU" dirty="0"/>
              <a:t> algoritmus </a:t>
            </a:r>
            <a:r>
              <a:rPr lang="hu-HU" dirty="0" err="1"/>
              <a:t>pszeudokódja</a:t>
            </a:r>
            <a:r>
              <a:rPr lang="hu-HU" dirty="0"/>
              <a:t> látható.</a:t>
            </a:r>
          </a:p>
          <a:p>
            <a:endParaRPr lang="hu-HU" dirty="0"/>
          </a:p>
          <a:p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Inicializálás</a:t>
            </a:r>
          </a:p>
          <a:p>
            <a:pPr marL="228600" indent="-228600">
              <a:buAutoNum type="arabicPeriod"/>
            </a:pPr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Minden új adatpontnál megnézzük a legközelebbi </a:t>
            </a:r>
            <a:r>
              <a:rPr lang="hu-HU" dirty="0" err="1"/>
              <a:t>centroidot</a:t>
            </a:r>
            <a:r>
              <a:rPr lang="hu-HU" dirty="0"/>
              <a:t>. Ha a távolság nagyobb egy küszöbértéknél ('</a:t>
            </a:r>
            <a:r>
              <a:rPr lang="hu-HU" dirty="0" err="1"/>
              <a:t>new_cluster_threshold</a:t>
            </a:r>
            <a:r>
              <a:rPr lang="hu-HU" dirty="0"/>
              <a:t>'), akkor új klasztert hozunk létre. Különben a legközelebbihez rendeljük.</a:t>
            </a:r>
          </a:p>
          <a:p>
            <a:pPr marL="228600" indent="-228600">
              <a:buAutoNum type="arabicPeriod"/>
            </a:pPr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Minden batch után frissítjük az érintett </a:t>
            </a:r>
            <a:r>
              <a:rPr lang="hu-HU" dirty="0" err="1"/>
              <a:t>centroidokat</a:t>
            </a:r>
            <a:r>
              <a:rPr lang="hu-HU" dirty="0"/>
              <a:t>.</a:t>
            </a:r>
          </a:p>
          <a:p>
            <a:pPr marL="228600" indent="-228600">
              <a:buAutoNum type="arabicPeriod"/>
            </a:pPr>
            <a:endParaRPr lang="hu-HU" dirty="0"/>
          </a:p>
          <a:p>
            <a:pPr marL="228600" indent="-228600">
              <a:buAutoNum type="arabicPeriod"/>
            </a:pPr>
            <a:r>
              <a:rPr lang="hu-HU" dirty="0"/>
              <a:t>Végül ellenőrizzük, van-e két </a:t>
            </a:r>
            <a:r>
              <a:rPr lang="hu-HU" dirty="0" err="1"/>
              <a:t>centroid</a:t>
            </a:r>
            <a:r>
              <a:rPr lang="hu-HU" dirty="0"/>
              <a:t>, ami túl közel került ('</a:t>
            </a:r>
            <a:r>
              <a:rPr lang="hu-HU" dirty="0" err="1"/>
              <a:t>merge_threshold</a:t>
            </a:r>
            <a:r>
              <a:rPr lang="hu-HU" dirty="0"/>
              <a:t>'). Ha igen, összevonjuk őket.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808553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első és legfontosabb kérdés: valóban gyorsabbak-e az online módszerek? Ennek mérésére végeztem egy futásidő-elemzést.</a:t>
            </a:r>
          </a:p>
          <a:p>
            <a:endParaRPr lang="hu-HU" dirty="0"/>
          </a:p>
          <a:p>
            <a:r>
              <a:rPr lang="hu-HU" dirty="0"/>
              <a:t>A kísérletben a </a:t>
            </a:r>
            <a:r>
              <a:rPr lang="hu-HU" dirty="0" err="1"/>
              <a:t>SQuAD</a:t>
            </a:r>
            <a:r>
              <a:rPr lang="hu-HU" dirty="0"/>
              <a:t> adathalmazból származó 84 ezer </a:t>
            </a:r>
            <a:r>
              <a:rPr lang="hu-HU" dirty="0" err="1"/>
              <a:t>embedding</a:t>
            </a:r>
            <a:r>
              <a:rPr lang="hu-HU" dirty="0"/>
              <a:t> vektort </a:t>
            </a:r>
            <a:r>
              <a:rPr lang="hu-HU" dirty="0" err="1"/>
              <a:t>klasztereztem</a:t>
            </a:r>
            <a:r>
              <a:rPr lang="hu-HU" dirty="0"/>
              <a:t>, egyre növekvő klaszterszámmal.</a:t>
            </a:r>
          </a:p>
          <a:p>
            <a:endParaRPr lang="hu-HU" dirty="0"/>
          </a:p>
          <a:p>
            <a:r>
              <a:rPr lang="hu-HU" dirty="0"/>
              <a:t>Három algoritmust hasonlítottam össze: a hagyományos '</a:t>
            </a:r>
            <a:r>
              <a:rPr lang="hu-HU" dirty="0" err="1"/>
              <a:t>KMeans</a:t>
            </a:r>
            <a:r>
              <a:rPr lang="hu-HU" dirty="0"/>
              <a:t>'-t , a '</a:t>
            </a:r>
            <a:r>
              <a:rPr lang="hu-HU" dirty="0" err="1"/>
              <a:t>MiniBatchKMeans</a:t>
            </a:r>
            <a:r>
              <a:rPr lang="hu-HU" dirty="0"/>
              <a:t>'-t (ami a </a:t>
            </a:r>
            <a:r>
              <a:rPr lang="hu-HU" dirty="0" err="1"/>
              <a:t>KMeans</a:t>
            </a:r>
            <a:r>
              <a:rPr lang="hu-HU" dirty="0"/>
              <a:t> egy gyorsított változata), és az általam implementált '</a:t>
            </a:r>
            <a:r>
              <a:rPr lang="hu-HU" dirty="0" err="1"/>
              <a:t>OnlineKMeans</a:t>
            </a:r>
            <a:r>
              <a:rPr lang="hu-HU" dirty="0"/>
              <a:t>'-t.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37079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felső ábrán a piros vonal (</a:t>
            </a:r>
            <a:r>
              <a:rPr lang="hu-HU" dirty="0" err="1"/>
              <a:t>KMeans</a:t>
            </a:r>
            <a:r>
              <a:rPr lang="hu-HU" dirty="0"/>
              <a:t>) futásideje, mint látható sokkal lassabb mint a másik kettő algoritmus.</a:t>
            </a:r>
          </a:p>
          <a:p>
            <a:r>
              <a:rPr lang="hu-HU" dirty="0"/>
              <a:t>Szaggatott vonal 384D, másik pedig 1024D</a:t>
            </a:r>
          </a:p>
          <a:p>
            <a:endParaRPr lang="hu-HU" dirty="0"/>
          </a:p>
          <a:p>
            <a:r>
              <a:rPr lang="hu-HU" dirty="0"/>
              <a:t>Ez pedig az előző ábra alsó része nagyítva a 'gyors' algoritmusokra. A zöld (</a:t>
            </a:r>
            <a:r>
              <a:rPr lang="hu-HU" dirty="0" err="1"/>
              <a:t>OnlineKMeans</a:t>
            </a:r>
            <a:r>
              <a:rPr lang="hu-HU" dirty="0"/>
              <a:t>) és a kék (</a:t>
            </a:r>
            <a:r>
              <a:rPr lang="hu-HU" dirty="0" err="1"/>
              <a:t>MiniBatchKMeans</a:t>
            </a:r>
            <a:r>
              <a:rPr lang="hu-HU" dirty="0"/>
              <a:t>) vonalak alig emelkednek.</a:t>
            </a:r>
          </a:p>
          <a:p>
            <a:endParaRPr lang="hu-HU" dirty="0"/>
          </a:p>
          <a:p>
            <a:r>
              <a:rPr lang="hu-HU" dirty="0"/>
              <a:t>Az </a:t>
            </a:r>
            <a:r>
              <a:rPr lang="hu-HU" dirty="0" err="1"/>
              <a:t>OnlineKMeans</a:t>
            </a:r>
            <a:r>
              <a:rPr lang="hu-HU" dirty="0"/>
              <a:t> és a </a:t>
            </a:r>
            <a:r>
              <a:rPr lang="hu-HU" dirty="0" err="1"/>
              <a:t>MiniBatchKMeans</a:t>
            </a:r>
            <a:r>
              <a:rPr lang="hu-HU" dirty="0"/>
              <a:t> sokkal gyorsabb, mint a hagyományos </a:t>
            </a:r>
            <a:r>
              <a:rPr lang="hu-HU" dirty="0" err="1"/>
              <a:t>KMeans</a:t>
            </a:r>
            <a:r>
              <a:rPr lang="hu-HU" dirty="0"/>
              <a:t>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A dolgozatban </a:t>
            </a:r>
            <a:r>
              <a:rPr lang="hu-HU" dirty="0" err="1"/>
              <a:t>KMeans</a:t>
            </a:r>
            <a:r>
              <a:rPr lang="hu-HU" dirty="0"/>
              <a:t>, </a:t>
            </a:r>
            <a:r>
              <a:rPr lang="hu-HU" dirty="0" err="1"/>
              <a:t>MiniBatchKMeans</a:t>
            </a:r>
            <a:r>
              <a:rPr lang="hu-HU" dirty="0"/>
              <a:t> esetén </a:t>
            </a:r>
            <a:r>
              <a:rPr lang="hu-HU" dirty="0" err="1"/>
              <a:t>n_init</a:t>
            </a:r>
            <a:r>
              <a:rPr lang="hu-HU" dirty="0"/>
              <a:t>=10 volt, hogy a stabil és pontos </a:t>
            </a:r>
            <a:r>
              <a:rPr lang="hu-HU" dirty="0" err="1"/>
              <a:t>klaszterezést</a:t>
            </a:r>
            <a:r>
              <a:rPr lang="hu-HU" dirty="0"/>
              <a:t> adjanak.</a:t>
            </a:r>
          </a:p>
          <a:p>
            <a:r>
              <a:rPr lang="hu-HU" dirty="0"/>
              <a:t>Ezt most </a:t>
            </a:r>
            <a:r>
              <a:rPr lang="hu-HU" dirty="0" err="1"/>
              <a:t>újraszámoltam</a:t>
            </a:r>
            <a:r>
              <a:rPr lang="hu-HU" dirty="0"/>
              <a:t> </a:t>
            </a:r>
            <a:r>
              <a:rPr lang="hu-HU" dirty="0" err="1"/>
              <a:t>n_init</a:t>
            </a:r>
            <a:r>
              <a:rPr lang="hu-HU" dirty="0"/>
              <a:t>=„</a:t>
            </a:r>
            <a:r>
              <a:rPr lang="hu-HU" dirty="0" err="1"/>
              <a:t>auto</a:t>
            </a:r>
            <a:r>
              <a:rPr lang="hu-HU" dirty="0"/>
              <a:t>”-</a:t>
            </a:r>
            <a:r>
              <a:rPr lang="hu-HU" dirty="0" err="1"/>
              <a:t>val</a:t>
            </a:r>
            <a:r>
              <a:rPr lang="hu-HU" dirty="0"/>
              <a:t>, ez van a dián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597710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 sebesség önmagában nem minden. Vizsgáljuk meg a pontosságot? Egy gyors, de rossz </a:t>
            </a:r>
            <a:r>
              <a:rPr lang="hu-HU" dirty="0" err="1"/>
              <a:t>klaszterezés</a:t>
            </a:r>
            <a:r>
              <a:rPr lang="hu-HU" dirty="0"/>
              <a:t> </a:t>
            </a:r>
            <a:r>
              <a:rPr lang="hu-HU" dirty="0" err="1"/>
              <a:t>tönkretenné</a:t>
            </a:r>
            <a:r>
              <a:rPr lang="hu-HU" dirty="0"/>
              <a:t> a RAG rendszerünket.</a:t>
            </a:r>
          </a:p>
          <a:p>
            <a:endParaRPr lang="hu-HU" dirty="0"/>
          </a:p>
          <a:p>
            <a:r>
              <a:rPr lang="hu-HU" dirty="0"/>
              <a:t>A pontosság méréséhez szintetikus adathalmazt generáltam, ahol </a:t>
            </a:r>
            <a:r>
              <a:rPr lang="hu-HU" i="1" dirty="0"/>
              <a:t>pontosan tudtam</a:t>
            </a:r>
            <a:r>
              <a:rPr lang="hu-HU" dirty="0"/>
              <a:t>, hogy melyik adatpont melyik klaszterbe tartozik.</a:t>
            </a:r>
          </a:p>
          <a:p>
            <a:endParaRPr lang="hu-HU" dirty="0"/>
          </a:p>
          <a:p>
            <a:r>
              <a:rPr lang="hu-HU" dirty="0"/>
              <a:t>500 dimenziós vektorokat hoztam létre, 10 000 adatponttal , különböző klaszterszámokkal (200-tól 800-ig) , és minden klaszterszámhoz különböző szórással is elvégeztem a mérést (minél nagyobb a szórás, annál 'egybe-</a:t>
            </a:r>
            <a:r>
              <a:rPr lang="hu-HU" dirty="0" err="1"/>
              <a:t>folytabbak</a:t>
            </a:r>
            <a:r>
              <a:rPr lang="hu-HU" dirty="0"/>
              <a:t>', nehezebben elkülöníthetők a klaszterek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04928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 táblázat a pontossági eredményeket mutatja két metrika (ARI és NMI) alapján. Az 1.0 a tökéletes egyezést jelenti.</a:t>
            </a:r>
          </a:p>
          <a:p>
            <a:endParaRPr lang="hu-HU" dirty="0"/>
          </a:p>
          <a:p>
            <a:r>
              <a:rPr lang="hu-HU" dirty="0"/>
              <a:t>Az </a:t>
            </a:r>
            <a:r>
              <a:rPr lang="hu-HU" dirty="0" err="1"/>
              <a:t>OnlineKMeans</a:t>
            </a:r>
            <a:r>
              <a:rPr lang="hu-HU" dirty="0"/>
              <a:t> képes megtartani a klasszikus </a:t>
            </a:r>
            <a:r>
              <a:rPr lang="hu-HU" dirty="0" err="1"/>
              <a:t>Kmeans-hez</a:t>
            </a:r>
            <a:r>
              <a:rPr lang="hu-HU" dirty="0"/>
              <a:t> közeli pontosságot, míg a </a:t>
            </a:r>
            <a:r>
              <a:rPr lang="hu-HU" dirty="0" err="1"/>
              <a:t>MiniBatchKMeans</a:t>
            </a:r>
            <a:r>
              <a:rPr lang="hu-HU" dirty="0"/>
              <a:t> teljesítménye </a:t>
            </a:r>
            <a:r>
              <a:rPr lang="hu-HU" b="1" dirty="0"/>
              <a:t>streaming</a:t>
            </a:r>
            <a:r>
              <a:rPr lang="hu-HU" dirty="0"/>
              <a:t> környezetben leromlik.</a:t>
            </a:r>
          </a:p>
          <a:p>
            <a:endParaRPr lang="hu-HU" dirty="0"/>
          </a:p>
          <a:p>
            <a:r>
              <a:rPr lang="hu-HU" dirty="0" err="1"/>
              <a:t>MiniBatchKMeans</a:t>
            </a:r>
            <a:r>
              <a:rPr lang="hu-HU" dirty="0"/>
              <a:t> gyenge, ha sok klaszter és magas dimenziójú adatok vannak, mert </a:t>
            </a:r>
            <a:r>
              <a:rPr lang="hu-HU" b="1" dirty="0"/>
              <a:t>a kis minibatchek nem reprezentálják megfelelően az összes klasztert</a:t>
            </a:r>
            <a:r>
              <a:rPr lang="hu-HU" dirty="0"/>
              <a:t>, így a </a:t>
            </a:r>
            <a:r>
              <a:rPr lang="hu-HU" b="1" dirty="0" err="1"/>
              <a:t>centroidok</a:t>
            </a:r>
            <a:r>
              <a:rPr lang="hu-HU" b="1" dirty="0"/>
              <a:t> instabilan frissülnek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ARI: A modell által képzett </a:t>
            </a:r>
            <a:r>
              <a:rPr lang="hu-HU" dirty="0" err="1"/>
              <a:t>klaszterezés</a:t>
            </a:r>
            <a:r>
              <a:rPr lang="hu-HU" dirty="0"/>
              <a:t> </a:t>
            </a:r>
            <a:r>
              <a:rPr lang="hu-HU" b="1" dirty="0"/>
              <a:t>mennyire egyezik meg a valódi címkékkel</a:t>
            </a:r>
            <a:r>
              <a:rPr lang="hu-HU" dirty="0"/>
              <a:t>, véletlenszerű egyezéstől korrigálva.</a:t>
            </a:r>
          </a:p>
          <a:p>
            <a:endParaRPr lang="hu-HU" dirty="0"/>
          </a:p>
          <a:p>
            <a:r>
              <a:rPr lang="hu-HU" dirty="0"/>
              <a:t>NMI: A modell klaszterei és a valódi címkék </a:t>
            </a:r>
            <a:r>
              <a:rPr lang="hu-HU" b="1" dirty="0"/>
              <a:t>mennyi közös információt tartalmaznak</a:t>
            </a:r>
            <a:r>
              <a:rPr lang="hu-HU" dirty="0"/>
              <a:t>, azaz mennyire jól egyeznek egymással normalizált skálán (0–1 között)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477032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Vizsgáljuk meg, hogyan teljesítenek az algoritmusok az éles RAG rendszerben.</a:t>
            </a:r>
          </a:p>
          <a:p>
            <a:endParaRPr lang="hu-HU" dirty="0"/>
          </a:p>
          <a:p>
            <a:r>
              <a:rPr lang="hu-HU" dirty="0"/>
              <a:t>A cél az volt, hogy mind a 87 ezer </a:t>
            </a:r>
            <a:r>
              <a:rPr lang="hu-HU" dirty="0" err="1"/>
              <a:t>SQuAD</a:t>
            </a:r>
            <a:r>
              <a:rPr lang="hu-HU" dirty="0"/>
              <a:t> kérdéshez megtaláljam a helyes választ tartalmazó szövegrészletet.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411821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Először </a:t>
            </a:r>
            <a:r>
              <a:rPr lang="hu-HU" dirty="0" err="1"/>
              <a:t>accuracy</a:t>
            </a:r>
            <a:r>
              <a:rPr lang="hu-HU" dirty="0"/>
              <a:t> tekintetében. </a:t>
            </a:r>
          </a:p>
          <a:p>
            <a:r>
              <a:rPr lang="hu-HU" dirty="0"/>
              <a:t>Visszatérített </a:t>
            </a:r>
            <a:r>
              <a:rPr lang="hu-HU" dirty="0" err="1"/>
              <a:t>embeddingek</a:t>
            </a:r>
            <a:r>
              <a:rPr lang="hu-HU" dirty="0"/>
              <a:t> számának függvényében látható a pontosság.</a:t>
            </a:r>
          </a:p>
          <a:p>
            <a:endParaRPr lang="hu-HU" dirty="0"/>
          </a:p>
          <a:p>
            <a:r>
              <a:rPr lang="hu-HU" dirty="0"/>
              <a:t>Három módszert vetettem össze: '</a:t>
            </a:r>
            <a:r>
              <a:rPr lang="hu-HU" dirty="0" err="1"/>
              <a:t>Clustering-based</a:t>
            </a:r>
            <a:r>
              <a:rPr lang="hu-HU" dirty="0"/>
              <a:t>' (az én módszerem), '</a:t>
            </a:r>
            <a:r>
              <a:rPr lang="hu-HU" dirty="0" err="1"/>
              <a:t>Brute</a:t>
            </a:r>
            <a:r>
              <a:rPr lang="hu-HU" dirty="0"/>
              <a:t> </a:t>
            </a:r>
            <a:r>
              <a:rPr lang="hu-HU" dirty="0" err="1"/>
              <a:t>force</a:t>
            </a:r>
            <a:r>
              <a:rPr lang="hu-HU" dirty="0"/>
              <a:t>' (minden vektort összehasonlít), és 'FAISS' (egy iparági sztenderd, gyors keresőkönyvtár).</a:t>
            </a:r>
          </a:p>
          <a:p>
            <a:endParaRPr lang="hu-HU" dirty="0"/>
          </a:p>
          <a:p>
            <a:r>
              <a:rPr lang="hu-HU" dirty="0"/>
              <a:t>Facebook AI </a:t>
            </a:r>
            <a:r>
              <a:rPr lang="hu-HU" dirty="0" err="1"/>
              <a:t>Similarity</a:t>
            </a:r>
            <a:r>
              <a:rPr lang="hu-HU" dirty="0"/>
              <a:t> </a:t>
            </a:r>
            <a:r>
              <a:rPr lang="hu-HU" dirty="0" err="1"/>
              <a:t>Search</a:t>
            </a:r>
            <a:r>
              <a:rPr lang="hu-HU" dirty="0"/>
              <a:t> </a:t>
            </a:r>
            <a:r>
              <a:rPr lang="hu-H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Hierarchical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Navigable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hu-H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Small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World </a:t>
            </a:r>
            <a:r>
              <a:rPr lang="hu-HU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graphs</a:t>
            </a:r>
            <a:r>
              <a:rPr lang="hu-HU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– gráfalapú közelítő keresés</a:t>
            </a:r>
          </a:p>
          <a:p>
            <a:endParaRPr lang="hu-HU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hu-HU" dirty="0"/>
              <a:t>A '</a:t>
            </a:r>
            <a:r>
              <a:rPr lang="hu-HU" dirty="0" err="1"/>
              <a:t>Clustering-based</a:t>
            </a:r>
            <a:r>
              <a:rPr lang="hu-HU" dirty="0"/>
              <a:t>' (bal oldali ábra) pontossága és </a:t>
            </a:r>
            <a:r>
              <a:rPr lang="hu-HU" dirty="0" err="1"/>
              <a:t>recall</a:t>
            </a:r>
            <a:r>
              <a:rPr lang="hu-HU" dirty="0"/>
              <a:t>-ja szinte tökéletesen megegyezik a '</a:t>
            </a:r>
            <a:r>
              <a:rPr lang="hu-HU" dirty="0" err="1"/>
              <a:t>Brute</a:t>
            </a:r>
            <a:r>
              <a:rPr lang="hu-HU" dirty="0"/>
              <a:t> </a:t>
            </a:r>
            <a:r>
              <a:rPr lang="hu-HU" dirty="0" err="1"/>
              <a:t>force</a:t>
            </a:r>
            <a:r>
              <a:rPr lang="hu-HU" dirty="0"/>
              <a:t>' és a 'FAISS' eredményeivel. Ez azt jelenti, hogy </a:t>
            </a:r>
            <a:r>
              <a:rPr lang="hu-HU" b="1" dirty="0"/>
              <a:t>a pontosság terén nem kötöttünk kompromisszumot.</a:t>
            </a:r>
          </a:p>
          <a:p>
            <a:endParaRPr lang="hu-HU" b="1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hu-HU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Ugyanez az eredmény látható </a:t>
            </a:r>
            <a:r>
              <a:rPr lang="hu-HU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recall</a:t>
            </a:r>
            <a:r>
              <a:rPr lang="hu-HU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hu-HU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tekinetében</a:t>
            </a:r>
            <a:r>
              <a:rPr lang="hu-HU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is.</a:t>
            </a:r>
          </a:p>
          <a:p>
            <a:endParaRPr lang="hu-HU" b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hu-HU" b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Recall</a:t>
            </a:r>
            <a:r>
              <a:rPr lang="hu-HU" b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=TP / (TP + FN). A </a:t>
            </a:r>
            <a:r>
              <a:rPr lang="hu-HU" dirty="0"/>
              <a:t>valódi pozitív esetek közül </a:t>
            </a:r>
            <a:r>
              <a:rPr lang="hu-HU" b="1" dirty="0"/>
              <a:t>hányat talált meg helyesen a modell</a:t>
            </a:r>
            <a:r>
              <a:rPr lang="hu-HU" dirty="0"/>
              <a:t>.</a:t>
            </a:r>
            <a:endParaRPr lang="hu-HU" b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72070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 az ábra a visszakeresés </a:t>
            </a:r>
            <a:r>
              <a:rPr lang="hu-HU" i="1" dirty="0"/>
              <a:t>idejét</a:t>
            </a:r>
            <a:r>
              <a:rPr lang="hu-HU" dirty="0"/>
              <a:t> mutatja másodpercben egy darab </a:t>
            </a:r>
            <a:r>
              <a:rPr lang="hu-HU" dirty="0" err="1"/>
              <a:t>query-hez</a:t>
            </a:r>
            <a:r>
              <a:rPr lang="hu-HU" dirty="0"/>
              <a:t>.</a:t>
            </a:r>
          </a:p>
          <a:p>
            <a:endParaRPr lang="hu-HU" dirty="0"/>
          </a:p>
          <a:p>
            <a:r>
              <a:rPr lang="hu-HU" dirty="0"/>
              <a:t>A '</a:t>
            </a:r>
            <a:r>
              <a:rPr lang="hu-HU" dirty="0" err="1"/>
              <a:t>Brute</a:t>
            </a:r>
            <a:r>
              <a:rPr lang="hu-HU" dirty="0"/>
              <a:t> </a:t>
            </a:r>
            <a:r>
              <a:rPr lang="hu-HU" dirty="0" err="1"/>
              <a:t>Force</a:t>
            </a:r>
            <a:r>
              <a:rPr lang="hu-HU" dirty="0"/>
              <a:t>' (kék) kb. 0.11 másodperc kérdésenként.</a:t>
            </a:r>
          </a:p>
          <a:p>
            <a:endParaRPr lang="hu-HU" dirty="0"/>
          </a:p>
          <a:p>
            <a:r>
              <a:rPr lang="hu-HU" dirty="0"/>
              <a:t>A 'FAISS' (narancs) és a mi '</a:t>
            </a:r>
            <a:r>
              <a:rPr lang="hu-HU" dirty="0" err="1"/>
              <a:t>Clustering-based</a:t>
            </a:r>
            <a:r>
              <a:rPr lang="hu-HU" dirty="0"/>
              <a:t>' (zöld) módszerünk ezzel szemben 0.02-0.04 másodperc között teljesít.</a:t>
            </a:r>
          </a:p>
          <a:p>
            <a:endParaRPr lang="hu-HU" dirty="0"/>
          </a:p>
          <a:p>
            <a:r>
              <a:rPr lang="hu-HU" dirty="0"/>
              <a:t>A </a:t>
            </a:r>
            <a:r>
              <a:rPr lang="hu-HU" dirty="0" err="1"/>
              <a:t>klaszterezés</a:t>
            </a:r>
            <a:r>
              <a:rPr lang="hu-HU" dirty="0"/>
              <a:t>-alapú módszer minimálisan gyengébb </a:t>
            </a:r>
            <a:r>
              <a:rPr lang="hu-HU" b="1" dirty="0"/>
              <a:t>pontosságot hozza, mint a </a:t>
            </a:r>
            <a:r>
              <a:rPr lang="hu-HU" b="1" dirty="0" err="1"/>
              <a:t>Brute</a:t>
            </a:r>
            <a:r>
              <a:rPr lang="hu-HU" b="1" dirty="0"/>
              <a:t> </a:t>
            </a:r>
            <a:r>
              <a:rPr lang="hu-HU" b="1" dirty="0" err="1"/>
              <a:t>Force</a:t>
            </a:r>
            <a:r>
              <a:rPr lang="hu-HU" b="1" dirty="0"/>
              <a:t>, de 3-5x gyorsabban.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9149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Az utolsó, és talán legfontosabb kísérlet a dinamikusan változó adathalmaz vizsgálata volt. Mi történik, ha folyamatosan érkeznek új adatok?</a:t>
            </a:r>
          </a:p>
          <a:p>
            <a:endParaRPr lang="hu-HU" dirty="0"/>
          </a:p>
          <a:p>
            <a:r>
              <a:rPr lang="hu-HU" dirty="0"/>
              <a:t>A kísérletben az adatok 50%-án inicializáltam a rendszereket , majd a maradék 50%-ot 2000-es 'batch'-</a:t>
            </a:r>
            <a:r>
              <a:rPr lang="hu-HU" dirty="0" err="1"/>
              <a:t>ekben</a:t>
            </a:r>
            <a:r>
              <a:rPr lang="hu-HU" dirty="0"/>
              <a:t>, fokozatosan adtam hozzájuk, mintha új dokumentumok érkeznének.</a:t>
            </a:r>
          </a:p>
          <a:p>
            <a:endParaRPr lang="hu-HU" dirty="0"/>
          </a:p>
          <a:p>
            <a:r>
              <a:rPr lang="hu-HU" dirty="0"/>
              <a:t>Itt már összehasonlítottam az '</a:t>
            </a:r>
            <a:r>
              <a:rPr lang="hu-HU" dirty="0" err="1"/>
              <a:t>OnlineKMeans</a:t>
            </a:r>
            <a:r>
              <a:rPr lang="hu-HU" dirty="0"/>
              <a:t>'-t a '</a:t>
            </a:r>
            <a:r>
              <a:rPr lang="hu-HU" dirty="0" err="1"/>
              <a:t>KMeans</a:t>
            </a:r>
            <a:r>
              <a:rPr lang="hu-HU" dirty="0"/>
              <a:t>'-szel (aminek minden batch után teljesen újra kell futnia) és ahogy a korábbiakban is a 'FAISS'-szel és </a:t>
            </a:r>
            <a:r>
              <a:rPr lang="hu-HU" dirty="0" err="1"/>
              <a:t>MiniBatchKMeans</a:t>
            </a:r>
            <a:r>
              <a:rPr lang="hu-HU" dirty="0"/>
              <a:t>-szel is.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292941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Vizsgáljuk először a pontosságot.</a:t>
            </a:r>
          </a:p>
          <a:p>
            <a:endParaRPr lang="hu-HU" dirty="0"/>
          </a:p>
          <a:p>
            <a:r>
              <a:rPr lang="hu-HU" dirty="0"/>
              <a:t>Ez az ábra mutatja a pontosságot (</a:t>
            </a:r>
            <a:r>
              <a:rPr lang="hu-HU" dirty="0" err="1"/>
              <a:t>Accuracy</a:t>
            </a:r>
            <a:r>
              <a:rPr lang="hu-HU" dirty="0"/>
              <a:t> ) az idő függvényében, ahogy egyre több batch-</a:t>
            </a:r>
            <a:r>
              <a:rPr lang="hu-HU" dirty="0" err="1"/>
              <a:t>et</a:t>
            </a:r>
            <a:r>
              <a:rPr lang="hu-HU" dirty="0"/>
              <a:t> adunk hozzá a tudásbázishoz.</a:t>
            </a:r>
          </a:p>
          <a:p>
            <a:endParaRPr lang="hu-HU" dirty="0"/>
          </a:p>
          <a:p>
            <a:r>
              <a:rPr lang="hu-HU" dirty="0"/>
              <a:t>A zöld (FAISS) a legjobb, ami várható. De nézzük a </a:t>
            </a:r>
            <a:r>
              <a:rPr lang="hu-HU" dirty="0" err="1"/>
              <a:t>klaszterezőket</a:t>
            </a:r>
            <a:r>
              <a:rPr lang="hu-HU" dirty="0"/>
              <a:t>: A </a:t>
            </a:r>
            <a:r>
              <a:rPr lang="hu-HU" dirty="0" err="1"/>
              <a:t>KMeans</a:t>
            </a:r>
            <a:r>
              <a:rPr lang="hu-HU" dirty="0"/>
              <a:t>' (narancs) mindkét ábrán stabilan jobban teljesít, mint az ‚</a:t>
            </a:r>
            <a:r>
              <a:rPr lang="hu-HU" dirty="0" err="1"/>
              <a:t>OnlineKMeans</a:t>
            </a:r>
            <a:r>
              <a:rPr lang="hu-HU" dirty="0"/>
              <a:t>' (piros) és a '</a:t>
            </a:r>
            <a:r>
              <a:rPr lang="hu-HU" dirty="0" err="1"/>
              <a:t>MiniBatchKMeans</a:t>
            </a:r>
            <a:r>
              <a:rPr lang="hu-HU" dirty="0"/>
              <a:t>' (kék).</a:t>
            </a:r>
          </a:p>
          <a:p>
            <a:endParaRPr lang="hu-HU" dirty="0"/>
          </a:p>
          <a:p>
            <a:r>
              <a:rPr lang="hu-HU" dirty="0"/>
              <a:t>Beérkező batchek függvényében </a:t>
            </a:r>
            <a:r>
              <a:rPr lang="hu-HU" b="1" dirty="0"/>
              <a:t>nem romlik le drasztikusan </a:t>
            </a:r>
            <a:r>
              <a:rPr lang="hu-HU" dirty="0"/>
              <a:t>sem az </a:t>
            </a:r>
            <a:r>
              <a:rPr lang="hu-HU" dirty="0" err="1"/>
              <a:t>accuracy</a:t>
            </a:r>
            <a:r>
              <a:rPr lang="hu-HU" dirty="0"/>
              <a:t> sem a </a:t>
            </a:r>
            <a:r>
              <a:rPr lang="hu-HU" dirty="0" err="1"/>
              <a:t>recall</a:t>
            </a:r>
            <a:endParaRPr lang="hu-HU" dirty="0"/>
          </a:p>
          <a:p>
            <a:endParaRPr lang="hu-HU" dirty="0"/>
          </a:p>
          <a:p>
            <a:r>
              <a:rPr lang="hu-HU" dirty="0" err="1"/>
              <a:t>Recall</a:t>
            </a:r>
            <a:r>
              <a:rPr lang="hu-HU" dirty="0"/>
              <a:t>-t tekintve ugyanezt a kimenetet láthatjuk.</a:t>
            </a:r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19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18501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Nézzük meg a frissítési időt, ami azt mutatja meg.</a:t>
            </a:r>
          </a:p>
          <a:p>
            <a:endParaRPr lang="hu-HU" dirty="0"/>
          </a:p>
          <a:p>
            <a:r>
              <a:rPr lang="hu-HU" dirty="0"/>
              <a:t>Mennyi ideig tart a </a:t>
            </a:r>
            <a:r>
              <a:rPr lang="hu-HU" dirty="0" err="1"/>
              <a:t>klaszterezés</a:t>
            </a:r>
            <a:r>
              <a:rPr lang="hu-HU" dirty="0"/>
              <a:t> frissítése.</a:t>
            </a:r>
          </a:p>
          <a:p>
            <a:endParaRPr lang="hu-HU" dirty="0"/>
          </a:p>
          <a:p>
            <a:r>
              <a:rPr lang="hu-HU" dirty="0"/>
              <a:t>A narancssárga vonal a '</a:t>
            </a:r>
            <a:r>
              <a:rPr lang="hu-HU" dirty="0" err="1"/>
              <a:t>KMeans</a:t>
            </a:r>
            <a:r>
              <a:rPr lang="hu-HU" dirty="0"/>
              <a:t>'. Mivel minden alkalommal a </a:t>
            </a:r>
            <a:r>
              <a:rPr lang="hu-HU" i="1" dirty="0"/>
              <a:t>teljes</a:t>
            </a:r>
            <a:r>
              <a:rPr lang="hu-HU" dirty="0"/>
              <a:t> adathalmazon újra kell futnia, nagyon lassú lesz, ez streaming adatokkal nem használható.</a:t>
            </a:r>
          </a:p>
          <a:p>
            <a:endParaRPr lang="hu-HU" dirty="0"/>
          </a:p>
          <a:p>
            <a:r>
              <a:rPr lang="hu-HU" dirty="0"/>
              <a:t>Itt látjuk a gyors algoritmusokat. A 'FAISS' (zöld) gyors, de az '</a:t>
            </a:r>
            <a:r>
              <a:rPr lang="hu-HU" dirty="0" err="1"/>
              <a:t>OnlineKMeans</a:t>
            </a:r>
            <a:r>
              <a:rPr lang="hu-HU" dirty="0"/>
              <a:t>' (piros) és a '</a:t>
            </a:r>
            <a:r>
              <a:rPr lang="hu-HU" dirty="0" err="1"/>
              <a:t>MiniBatchKMeans</a:t>
            </a:r>
            <a:r>
              <a:rPr lang="hu-HU" dirty="0"/>
              <a:t>' (kék) azonban </a:t>
            </a:r>
            <a:r>
              <a:rPr lang="hu-HU" i="1" dirty="0"/>
              <a:t>extrém gyorsak és </a:t>
            </a:r>
            <a:r>
              <a:rPr lang="hu-HU" i="1" dirty="0" err="1"/>
              <a:t>stabilak</a:t>
            </a:r>
            <a:r>
              <a:rPr lang="hu-HU" dirty="0"/>
              <a:t>, 0.1 másodperc alatt maradnak, így teljesen alkalmasak streaming környezetben való használatra.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25734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Megvalósítottunk egy '</a:t>
            </a:r>
            <a:r>
              <a:rPr lang="hu-HU" dirty="0" err="1"/>
              <a:t>OnlineKMeans</a:t>
            </a:r>
            <a:r>
              <a:rPr lang="hu-HU" dirty="0"/>
              <a:t>' algoritmust , ami egy hatékony megoldást nyújt újonnan érkező adatpontok gyors integrálására.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 err="1"/>
              <a:t>Bebizonyosult</a:t>
            </a:r>
            <a:r>
              <a:rPr lang="hu-HU" dirty="0"/>
              <a:t>, hogy a </a:t>
            </a:r>
            <a:r>
              <a:rPr lang="hu-HU" dirty="0" err="1"/>
              <a:t>klaszterezés</a:t>
            </a:r>
            <a:r>
              <a:rPr lang="hu-HU" dirty="0"/>
              <a:t>-alapú visszakeresés hatékony alternatívája a </a:t>
            </a:r>
            <a:r>
              <a:rPr lang="hu-HU" dirty="0" err="1"/>
              <a:t>brute-force</a:t>
            </a:r>
            <a:r>
              <a:rPr lang="hu-HU" dirty="0"/>
              <a:t> keresésnek, </a:t>
            </a:r>
            <a:r>
              <a:rPr lang="hu-HU" b="1" dirty="0"/>
              <a:t>minimálisan gyengébb pontosságot nyújt jelentősen gyorsabb keresési idő mellett</a:t>
            </a:r>
            <a:r>
              <a:rPr lang="hu-HU" dirty="0"/>
              <a:t>.</a:t>
            </a:r>
          </a:p>
          <a:p>
            <a:r>
              <a:rPr lang="hu-HU" dirty="0"/>
              <a:t>Képes felvenni a versenyt bizonyos helyzetekben a FAISS indexszel.</a:t>
            </a:r>
          </a:p>
          <a:p>
            <a:endParaRPr lang="hu-HU" dirty="0"/>
          </a:p>
          <a:p>
            <a:r>
              <a:rPr lang="hu-HU" dirty="0"/>
              <a:t>Sikeresen megoldottam újonnan érkező dokumentumok gyors integrálását a tudásbázisba, hogy a </a:t>
            </a:r>
            <a:r>
              <a:rPr lang="hu-HU" dirty="0" err="1"/>
              <a:t>retrieval</a:t>
            </a:r>
            <a:r>
              <a:rPr lang="hu-HU" dirty="0"/>
              <a:t> pontossága ne romoljon le!!</a:t>
            </a:r>
          </a:p>
          <a:p>
            <a:endParaRPr lang="hu-HU" dirty="0"/>
          </a:p>
          <a:p>
            <a:endParaRPr lang="hu-HU" dirty="0"/>
          </a:p>
          <a:p>
            <a:r>
              <a:rPr lang="hu-HU" dirty="0"/>
              <a:t>Jövőbeli fejlesztésként szeretném megvalósítani az </a:t>
            </a:r>
            <a:r>
              <a:rPr lang="hu-HU" dirty="0" err="1"/>
              <a:t>OnlineKMEans</a:t>
            </a:r>
            <a:r>
              <a:rPr lang="hu-HU" dirty="0"/>
              <a:t> egy olyan új funkcióját, hogy a már meglévő klasztereket ne csak összevonni tudja, hanem felbontani is ha a klaszterek szórása túlságosan megnő.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95401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Köszönöm szépen a figyelmet! </a:t>
            </a:r>
          </a:p>
          <a:p>
            <a:endParaRPr lang="hu-HU" dirty="0"/>
          </a:p>
          <a:p>
            <a:r>
              <a:rPr lang="hu-HU" dirty="0"/>
              <a:t>És várom a kérdéseket.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812818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61454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31356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521550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All-MiniLM</a:t>
            </a:r>
            <a:r>
              <a:rPr lang="hu-HU" dirty="0"/>
              <a:t> modell </a:t>
            </a:r>
            <a:r>
              <a:rPr lang="hu-HU" b="0" dirty="0"/>
              <a:t>páros mondat-reprezentációra lett </a:t>
            </a:r>
            <a:r>
              <a:rPr lang="hu-HU" b="0" dirty="0" err="1"/>
              <a:t>finomhangolva</a:t>
            </a:r>
            <a:r>
              <a:rPr lang="hu-HU" b="0" dirty="0"/>
              <a:t> (QA-pár adatokat)</a:t>
            </a:r>
          </a:p>
          <a:p>
            <a:r>
              <a:rPr lang="hu-HU" b="0" dirty="0" err="1"/>
              <a:t>Snowflake</a:t>
            </a:r>
            <a:r>
              <a:rPr lang="hu-HU" b="0" dirty="0"/>
              <a:t> </a:t>
            </a:r>
            <a:r>
              <a:rPr lang="hu-HU" b="0" dirty="0" err="1"/>
              <a:t>arctic</a:t>
            </a:r>
            <a:r>
              <a:rPr lang="hu-HU" b="0" dirty="0"/>
              <a:t> </a:t>
            </a:r>
            <a:r>
              <a:rPr lang="hu-HU" b="0" dirty="0" err="1"/>
              <a:t>embed</a:t>
            </a:r>
            <a:r>
              <a:rPr lang="hu-HU" b="0" dirty="0"/>
              <a:t>: univerzális, </a:t>
            </a:r>
            <a:r>
              <a:rPr lang="hu-HU" b="0" dirty="0" err="1"/>
              <a:t>general</a:t>
            </a:r>
            <a:r>
              <a:rPr lang="hu-HU" b="0" dirty="0"/>
              <a:t> </a:t>
            </a:r>
            <a:r>
              <a:rPr lang="hu-HU" b="0" dirty="0" err="1"/>
              <a:t>purpose</a:t>
            </a:r>
            <a:r>
              <a:rPr lang="hu-HU" b="0" dirty="0"/>
              <a:t> </a:t>
            </a:r>
            <a:r>
              <a:rPr lang="hu-HU" b="0" dirty="0" err="1"/>
              <a:t>embedder</a:t>
            </a:r>
            <a:endParaRPr lang="hu-HU" b="0" dirty="0"/>
          </a:p>
          <a:p>
            <a:endParaRPr lang="hu-HU" dirty="0"/>
          </a:p>
          <a:p>
            <a:r>
              <a:rPr lang="hu-HU" dirty="0"/>
              <a:t>Azon volt a lényeg a </a:t>
            </a:r>
            <a:r>
              <a:rPr lang="hu-HU" dirty="0" err="1"/>
              <a:t>szempontomből</a:t>
            </a:r>
            <a:r>
              <a:rPr lang="hu-HU" dirty="0"/>
              <a:t>, hogy a dimenziószám legyen más. Nem elsősorban a pontosság növelés volt a cél, a trendek megismerése. Konzisztensen ugyanazokat az </a:t>
            </a:r>
            <a:r>
              <a:rPr lang="hu-HU" dirty="0" err="1"/>
              <a:t>embeddingeket</a:t>
            </a:r>
            <a:r>
              <a:rPr lang="hu-HU" dirty="0"/>
              <a:t> használtam, így az eredmények is konzisztensek és általánosíthatóak.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533317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1024 dimenziós vektorokra a kiértékelés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29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20966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IVF: rögzített klaszterszám, nincsenek új klaszterek</a:t>
            </a:r>
          </a:p>
          <a:p>
            <a:endParaRPr lang="hu-HU" dirty="0"/>
          </a:p>
          <a:p>
            <a:r>
              <a:rPr lang="hu-HU" b="1" dirty="0"/>
              <a:t>Kifejezett probléma lehet ha nincs tanító adat, teljes streaming környezet, adateltolódás</a:t>
            </a:r>
          </a:p>
          <a:p>
            <a:endParaRPr lang="hu-HU" dirty="0"/>
          </a:p>
          <a:p>
            <a:r>
              <a:rPr lang="hu-HU" dirty="0"/>
              <a:t>Van egy </a:t>
            </a:r>
            <a:r>
              <a:rPr lang="hu-HU" dirty="0" err="1"/>
              <a:t>train</a:t>
            </a:r>
            <a:r>
              <a:rPr lang="hu-HU" dirty="0"/>
              <a:t> fázis ahol elkészülnek a klaszterek és utána az új vektor a legközelebbi klaszterekbe kerül. Nem frissül a </a:t>
            </a:r>
            <a:r>
              <a:rPr lang="hu-HU" dirty="0" err="1"/>
              <a:t>klaszterezés</a:t>
            </a:r>
            <a:r>
              <a:rPr lang="hu-HU" dirty="0"/>
              <a:t>.</a:t>
            </a:r>
          </a:p>
          <a:p>
            <a:r>
              <a:rPr lang="hu-HU" dirty="0"/>
              <a:t>Még ha a </a:t>
            </a:r>
            <a:r>
              <a:rPr lang="hu-HU" dirty="0" err="1"/>
              <a:t>klaszterezés</a:t>
            </a:r>
            <a:r>
              <a:rPr lang="hu-HU" dirty="0"/>
              <a:t> nagyon gyors is, nehéz ilyen gyorsan meghatározni, mi a helyes új klaszterszám.</a:t>
            </a:r>
          </a:p>
          <a:p>
            <a:endParaRPr lang="hu-HU" dirty="0"/>
          </a:p>
          <a:p>
            <a:r>
              <a:rPr lang="hu-HU" dirty="0"/>
              <a:t>Ha változik az adatok eloszlása időben a </a:t>
            </a:r>
            <a:r>
              <a:rPr lang="hu-HU" dirty="0" err="1"/>
              <a:t>retrieval</a:t>
            </a:r>
            <a:r>
              <a:rPr lang="hu-HU" dirty="0"/>
              <a:t> minősége romolhat, ha csak nem lesz elkészítve a </a:t>
            </a:r>
            <a:r>
              <a:rPr lang="hu-HU" dirty="0" err="1"/>
              <a:t>klaszterezés</a:t>
            </a:r>
            <a:r>
              <a:rPr lang="hu-HU" dirty="0"/>
              <a:t> újra, új klaszterszámmal.</a:t>
            </a:r>
          </a:p>
          <a:p>
            <a:r>
              <a:rPr lang="hu-HU" b="1" dirty="0"/>
              <a:t>HNSW </a:t>
            </a:r>
            <a:r>
              <a:rPr lang="hu-HU" b="1" dirty="0" err="1"/>
              <a:t>can</a:t>
            </a:r>
            <a:r>
              <a:rPr lang="hu-HU" b="1" dirty="0"/>
              <a:t> </a:t>
            </a:r>
            <a:r>
              <a:rPr lang="hu-HU" b="1" dirty="0" err="1"/>
              <a:t>reorganize</a:t>
            </a:r>
            <a:r>
              <a:rPr lang="hu-HU" b="1" dirty="0"/>
              <a:t> </a:t>
            </a:r>
            <a:r>
              <a:rPr lang="hu-HU" b="1" dirty="0" err="1"/>
              <a:t>itself</a:t>
            </a:r>
            <a:r>
              <a:rPr lang="hu-HU" b="1" dirty="0"/>
              <a:t>, </a:t>
            </a:r>
            <a:r>
              <a:rPr lang="hu-HU" b="0" dirty="0"/>
              <a:t>ez volt a releváns módszer a szempontomból, amihez hasonlítani kellett.</a:t>
            </a:r>
          </a:p>
          <a:p>
            <a:endParaRPr lang="hu-HU" b="0" dirty="0"/>
          </a:p>
          <a:p>
            <a:r>
              <a:rPr lang="hu-HU" b="0" dirty="0"/>
              <a:t>Jövőben </a:t>
            </a:r>
            <a:r>
              <a:rPr lang="hu-HU" b="0" dirty="0" err="1"/>
              <a:t>OnlineKMeans</a:t>
            </a:r>
            <a:r>
              <a:rPr lang="hu-HU" b="0" dirty="0"/>
              <a:t> + FAISS összevonása</a:t>
            </a:r>
            <a:endParaRPr lang="hu-HU" b="1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31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27404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Ezeknek az értékeknek a megválasztása a </a:t>
            </a:r>
            <a:r>
              <a:rPr lang="hu-HU" dirty="0" err="1"/>
              <a:t>klaszterezés</a:t>
            </a:r>
            <a:r>
              <a:rPr lang="hu-HU" dirty="0"/>
              <a:t> eredményeinek szempontjából kritikus, mint </a:t>
            </a:r>
            <a:r>
              <a:rPr lang="hu-HU" dirty="0" err="1"/>
              <a:t>pl</a:t>
            </a:r>
            <a:r>
              <a:rPr lang="hu-HU" dirty="0"/>
              <a:t> DBSCAN esetén epszilon.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32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287180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hu-HU" dirty="0"/>
              <a:t>normalizálás, mátrixszorzás</a:t>
            </a:r>
          </a:p>
          <a:p>
            <a:pPr marL="228600" indent="-228600">
              <a:buAutoNum type="arabicPeriod"/>
            </a:pPr>
            <a:r>
              <a:rPr lang="hu-HU" dirty="0"/>
              <a:t>Min távolság kiválasztása</a:t>
            </a:r>
          </a:p>
          <a:p>
            <a:pPr marL="228600" indent="-228600">
              <a:buAutoNum type="arabicPeriod"/>
            </a:pPr>
            <a:r>
              <a:rPr lang="hu-HU" dirty="0"/>
              <a:t>Maximum (</a:t>
            </a:r>
            <a:r>
              <a:rPr lang="hu-HU" dirty="0" err="1"/>
              <a:t>max_clusters</a:t>
            </a:r>
            <a:r>
              <a:rPr lang="hu-HU" dirty="0"/>
              <a:t> - </a:t>
            </a:r>
            <a:r>
              <a:rPr lang="hu-HU" dirty="0" err="1"/>
              <a:t>k</a:t>
            </a:r>
            <a:r>
              <a:rPr lang="hu-HU" dirty="0"/>
              <a:t>) új jöhet létre</a:t>
            </a:r>
          </a:p>
          <a:p>
            <a:pPr marL="228600" indent="-228600">
              <a:buAutoNum type="arabicPeriod"/>
            </a:pPr>
            <a:r>
              <a:rPr lang="hu-HU" dirty="0" err="1"/>
              <a:t>Centroid</a:t>
            </a:r>
            <a:r>
              <a:rPr lang="hu-HU" dirty="0"/>
              <a:t> frissítés: minden pontot egyszer összeadunk</a:t>
            </a:r>
          </a:p>
          <a:p>
            <a:pPr marL="228600" indent="-228600">
              <a:buAutoNum type="arabicPeriod"/>
            </a:pPr>
            <a:r>
              <a:rPr lang="hu-HU" dirty="0"/>
              <a:t>Klaszterek közötti </a:t>
            </a:r>
            <a:r>
              <a:rPr lang="hu-HU" dirty="0" err="1"/>
              <a:t>páronkénti</a:t>
            </a:r>
            <a:r>
              <a:rPr lang="hu-HU" dirty="0"/>
              <a:t> távolság számítása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BF544B-8942-4253-A6F4-42DBF943B8C6}" type="slidenum">
              <a:rPr lang="hu-HU" smtClean="0"/>
              <a:t>33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99101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44DB2B-8DEF-2080-F11C-465FD4342A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D00135B9-F6BB-323C-16DB-A499A7DC8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70EC609-60CE-4350-E413-7FDC500D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5F21B2-F76C-DA4E-93C7-1ED776993694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DD0B685-2D51-EC98-5512-ADA605795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F718B57-9AD5-F8B1-7D62-6C17616A9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r>
              <a:rPr lang="hu-HU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1501092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ECF2C6-9A46-26C0-C82F-1AA66FB06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0B08F35-F4ED-DD84-DB4B-08C7B091F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09BC9F9-FE85-CD53-532C-2AC7ABE74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79DB-241A-8544-95D6-5A5515E861C2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95E67FB-FBFF-CF0C-CD26-08087800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81F5668-D494-D40D-4572-EBD0DE2C6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9841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D7D912-7FB2-707D-4A95-BE6D91863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2A09965-A8C0-57B4-EA3E-9D8BEE514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8DCE928-BAB9-6766-9725-B5C561871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38A03-143C-DC48-B6FB-03520BF3D264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BF8346E-83CB-DFF1-BE9F-EA269F6A2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B3C63F5-010B-97CF-A6DB-D9CE184B8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64491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4EC0E3-0F3D-C52A-737C-3F0EAE171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E3E74A1-A246-260F-3BB3-CC63041E2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C7370C1-A55B-4347-9AFF-FBB7C7DB1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FB944EE-1BCA-4350-F5E3-E74400E57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5DABD-02F3-C24D-B459-BA5A52C7C0D3}" type="datetime1">
              <a:rPr lang="hu-HU" smtClean="0"/>
              <a:t>2026. 01. 05.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DD111C8-FFDD-AD48-1F1C-C1D5E0319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95E365C-7E1D-964A-F5BD-242E24CAE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3093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CDD2C5-25D5-03F8-F0B5-2D8345171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8D00EE9-0968-8C1C-9DFE-FCCAFA35E8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DC6633E-DB2F-4E35-6FF5-E987152804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DD64006-2C03-7143-B016-A2F4F3E2E0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D049EE41-4C75-3885-16E2-420BF437B7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CF8C02EA-55F4-5050-B8CD-28A0797DC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665F1-11A6-C146-8C9C-4EAD2B21F502}" type="datetime1">
              <a:rPr lang="hu-HU" smtClean="0"/>
              <a:t>2026. 01. 05.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DEA56DC6-3AEF-250F-41B9-259623F4C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A687F30-7E14-114B-C70F-CF485CB60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339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E34E4A-294A-C3DC-A26B-804DA6713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5109F264-4028-4C48-80B8-2CE954E5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5F671-323E-D34A-8D4F-5155E3541BC7}" type="datetime1">
              <a:rPr lang="hu-HU" smtClean="0"/>
              <a:t>2026. 01. 05.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8EE7FD6-BE4D-B54F-C44C-B46ED0E9B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5EB0A85-D335-E07A-B9FD-7762BEE79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9576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32B8FE99-87E4-CE9E-0204-2086B16A8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DB417-D9D9-C740-B221-44D378005732}" type="datetime1">
              <a:rPr lang="hu-HU" smtClean="0"/>
              <a:t>2026. 01. 05.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F36B521C-2A39-F3BF-0344-69AF56617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3AC11E4-41B0-8958-838C-DB5DA76EA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3071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8BBEBCA-9137-494C-DE47-D6E4105C4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B851373-52A0-A154-6D22-0DF9BF2F2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B341CCE-5FBC-E08F-AC03-AB7651FF6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14EC641-5857-545B-2AE6-EB903C8C2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0F3EA-3925-E241-9F9A-1E3EF43D2F81}" type="datetime1">
              <a:rPr lang="hu-HU" smtClean="0"/>
              <a:t>2026. 01. 05.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F0D02E3-A25F-EA0F-B7C0-03B5DE520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AE99EED-022D-0343-CEFD-53F0984DC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6406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BBDE40E-CDF9-03AB-1881-714B792FC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728AD9E0-FC0E-1BDE-A150-484164A324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6B01F831-4CD3-EB3C-BFEA-D38B52A3D5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84EB230-CFD0-14C5-8666-82F98A3E6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B74F7-95E0-1C4A-BBFA-D3DEF04605D4}" type="datetime1">
              <a:rPr lang="hu-HU" smtClean="0"/>
              <a:t>2026. 01. 05.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36E63473-501A-4B53-ED84-EF200213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E35C4E8-A16D-C025-3ADF-18E56759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9153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80F146-820D-3614-D4B6-AA5EC5D2B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9F19BF5-021D-31DB-E02E-E6C8F7FD6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75EA86F-CAF9-4C40-D15F-19E89F13B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F617D-633B-144B-B338-1A3186D94DEC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A322BA5-50F8-4603-D4F8-DF474B31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137B239-93B1-F8A2-F7FE-B9A1399F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6108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01E548B-19CA-9464-3B87-0BC2A3039C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F5D9155-C809-5256-8273-A47769230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8946F68-DFF0-22FD-5981-51D527B8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0C74A-E794-5D4C-99F0-E0908F250C85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56CBAED-2D0B-C1A8-24B8-6EA4F1294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F7CBFF9-FC11-30AE-A40E-6458F24B1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8746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A8F09FF2-7741-43DF-79AA-10D5CB26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2FFF5B2-37C4-8C87-5666-64A079D6A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E98144B-91D0-2412-B4E5-5993F321C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4DB062-3C69-2A49-980E-3FE962CDF110}" type="datetime1">
              <a:rPr lang="hu-HU" smtClean="0"/>
              <a:t>2026. 01. 05.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76A45CC-E416-D676-0924-83E1F878D9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5725B3B-ADD0-88C9-63BF-F659E0CE6A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8C5385-442F-994D-B617-1C3CED302E24}" type="slidenum">
              <a:rPr lang="hu-HU" smtClean="0"/>
              <a:pPr/>
              <a:t>‹#›</a:t>
            </a:fld>
            <a:r>
              <a:rPr lang="hu-HU" dirty="0"/>
              <a:t>/14</a:t>
            </a:r>
          </a:p>
        </p:txBody>
      </p:sp>
    </p:spTree>
    <p:extLst>
      <p:ext uri="{BB962C8B-B14F-4D97-AF65-F5344CB8AC3E}">
        <p14:creationId xmlns:p14="http://schemas.microsoft.com/office/powerpoint/2010/main" val="204669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hari4om/word-embedding-d816f643140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48550/arXiv.1606.05250" TargetMode="External"/><Relationship Id="rId4" Type="http://schemas.openxmlformats.org/officeDocument/2006/relationships/hyperlink" Target="https://towardsdatascience.com/cosine-similarity-how-does-it-measure-the-similarity-maths-behind-and-usage-in-python-50ad30aad7db/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48C7F701-9F55-4F13-1103-DD725E159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hu-HU" sz="4000" b="1" dirty="0" err="1">
                <a:solidFill>
                  <a:srgbClr val="000000"/>
                </a:solidFill>
                <a:effectLst/>
                <a:latin typeface="+mn-lt"/>
              </a:rPr>
              <a:t>Klaszterezési</a:t>
            </a:r>
            <a:r>
              <a:rPr lang="hu-HU" sz="4000" b="1" dirty="0">
                <a:solidFill>
                  <a:srgbClr val="000000"/>
                </a:solidFill>
                <a:effectLst/>
                <a:latin typeface="+mn-lt"/>
              </a:rPr>
              <a:t> technikák alkalmazása az </a:t>
            </a:r>
            <a:r>
              <a:rPr lang="hu-HU" sz="4000" b="1" dirty="0" err="1">
                <a:solidFill>
                  <a:srgbClr val="000000"/>
                </a:solidFill>
                <a:effectLst/>
                <a:latin typeface="+mn-lt"/>
              </a:rPr>
              <a:t>embedding</a:t>
            </a:r>
            <a:r>
              <a:rPr lang="hu-HU" sz="4000" b="1" dirty="0">
                <a:solidFill>
                  <a:srgbClr val="000000"/>
                </a:solidFill>
                <a:effectLst/>
                <a:latin typeface="+mn-lt"/>
              </a:rPr>
              <a:t>-alapú visszakeresés hatékonyságának növelésére RAG környezetben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0DD226D7-1AA8-F259-77E0-A48544EC3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725987"/>
            <a:ext cx="3946779" cy="1038225"/>
          </a:xfrm>
        </p:spPr>
        <p:txBody>
          <a:bodyPr>
            <a:normAutofit/>
          </a:bodyPr>
          <a:lstStyle/>
          <a:p>
            <a:pPr algn="l"/>
            <a:r>
              <a:rPr lang="hu-HU" dirty="0"/>
              <a:t>Készítette: Czotter Benedek</a:t>
            </a:r>
          </a:p>
          <a:p>
            <a:pPr algn="l"/>
            <a:r>
              <a:rPr lang="hu-HU" dirty="0"/>
              <a:t>Konzulens: Dr. Szűcs Gábor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Kép 4" descr="A képen szöveg, Betűtípus, képernyőkép, fehér látható&#10;&#10;Automatikusan generált leírás">
            <a:extLst>
              <a:ext uri="{FF2B5EF4-FFF2-40B4-BE49-F238E27FC236}">
                <a16:creationId xmlns:a16="http://schemas.microsoft.com/office/drawing/2014/main" id="{E02A3AAA-EFD7-37E9-C416-21F3E14C71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801" y="14518"/>
            <a:ext cx="3759200" cy="1829416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8E26808C-007D-18B7-F970-A5244A42C278}"/>
              </a:ext>
            </a:extLst>
          </p:cNvPr>
          <p:cNvSpPr txBox="1"/>
          <p:nvPr/>
        </p:nvSpPr>
        <p:spPr>
          <a:xfrm>
            <a:off x="838199" y="4619624"/>
            <a:ext cx="5833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/>
              <a:t>Szakdolgozat védés</a:t>
            </a:r>
            <a:br>
              <a:rPr lang="hu-HU" sz="2000" dirty="0"/>
            </a:br>
            <a:r>
              <a:rPr lang="hu-HU" sz="2000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917058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76A5C5B-9E91-0643-44A3-847AC216A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Retrieval Augmented Generation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átum helye 5">
            <a:extLst>
              <a:ext uri="{FF2B5EF4-FFF2-40B4-BE49-F238E27FC236}">
                <a16:creationId xmlns:a16="http://schemas.microsoft.com/office/drawing/2014/main" id="{6484474F-5500-8FDB-CF4B-D9EE49C3C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9E4F3-2471-F946-A10E-F965F7F15FF3}" type="datetime1">
              <a:rPr lang="hu-HU" smtClean="0"/>
              <a:t>2026. 01. 05.</a:t>
            </a:fld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5212F9E-E412-BF89-1EF4-37D10781E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2</a:t>
            </a:fld>
            <a:r>
              <a:rPr lang="hu-HU" dirty="0"/>
              <a:t>/23</a:t>
            </a:r>
          </a:p>
        </p:txBody>
      </p:sp>
      <p:pic>
        <p:nvPicPr>
          <p:cNvPr id="14" name="Tartalom helye 13" descr="A képen képernyőkép, tervezés látható&#10;&#10;Automatikusan generált leírás">
            <a:extLst>
              <a:ext uri="{FF2B5EF4-FFF2-40B4-BE49-F238E27FC236}">
                <a16:creationId xmlns:a16="http://schemas.microsoft.com/office/drawing/2014/main" id="{4F788331-C903-2566-1678-EADA4E2F2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25148"/>
            <a:ext cx="12192000" cy="3417703"/>
          </a:xfrm>
        </p:spPr>
      </p:pic>
    </p:spTree>
    <p:extLst>
      <p:ext uri="{BB962C8B-B14F-4D97-AF65-F5344CB8AC3E}">
        <p14:creationId xmlns:p14="http://schemas.microsoft.com/office/powerpoint/2010/main" val="2090047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5B7ABF0-6D9E-4C70-989A-9BB78F9C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Kutatásom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71D3057-2929-507F-31B0-3F589DF1D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b="1" dirty="0" err="1"/>
              <a:t>Retrieval</a:t>
            </a:r>
            <a:r>
              <a:rPr lang="hu-HU" dirty="0"/>
              <a:t> architektúra kidolgozása: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err="1"/>
              <a:t>Klaszterezésen</a:t>
            </a:r>
            <a:r>
              <a:rPr lang="hu-HU" dirty="0"/>
              <a:t> alapul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Gyors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Képes dinamikusan integrálni új dokumentumokat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95E6796-0162-C42C-C416-95BBB0C46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79DB-241A-8544-95D6-5A5515E861C2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B319C39-3934-28BE-CA8E-FD6973DE4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3</a:t>
            </a:fld>
            <a:r>
              <a:rPr lang="hu-HU" dirty="0"/>
              <a:t>/23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6A53F255-7F10-1432-1818-2AED26E19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85888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19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A085D84-3FE9-0FAB-EC09-3D2AE409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5400" b="1" dirty="0"/>
              <a:t>Adat előfeldolgozás</a:t>
            </a:r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4736D4E-16AE-FBE8-78A6-2BC51FE73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hu-HU" sz="2200" dirty="0"/>
              <a:t>Adathalmaz: </a:t>
            </a:r>
            <a:r>
              <a:rPr lang="hu-HU" sz="2200" b="1" dirty="0" err="1"/>
              <a:t>SQuAD</a:t>
            </a:r>
            <a:r>
              <a:rPr lang="hu-HU" sz="2200" dirty="0"/>
              <a:t> (Stanford </a:t>
            </a:r>
            <a:r>
              <a:rPr lang="hu-HU" sz="2200" dirty="0" err="1"/>
              <a:t>Question</a:t>
            </a:r>
            <a:r>
              <a:rPr lang="hu-HU" sz="2200" dirty="0"/>
              <a:t> </a:t>
            </a:r>
            <a:r>
              <a:rPr lang="hu-HU" sz="2200" dirty="0" err="1"/>
              <a:t>Answering</a:t>
            </a:r>
            <a:r>
              <a:rPr lang="hu-HU" sz="2200" dirty="0"/>
              <a:t> </a:t>
            </a:r>
            <a:r>
              <a:rPr lang="hu-HU" sz="2200" dirty="0" err="1"/>
              <a:t>Dataset</a:t>
            </a:r>
            <a:r>
              <a:rPr lang="hu-HU" sz="2200" dirty="0"/>
              <a:t>) </a:t>
            </a:r>
            <a:r>
              <a:rPr lang="hu-HU" sz="1500" i="1" dirty="0"/>
              <a:t>(</a:t>
            </a:r>
            <a:r>
              <a:rPr lang="hu-HU" sz="1500" i="1" dirty="0" err="1">
                <a:solidFill>
                  <a:srgbClr val="000000"/>
                </a:solidFill>
                <a:effectLst/>
              </a:rPr>
              <a:t>Pranav</a:t>
            </a:r>
            <a:r>
              <a:rPr lang="hu-HU" sz="1500" i="1" dirty="0">
                <a:solidFill>
                  <a:srgbClr val="000000"/>
                </a:solidFill>
                <a:effectLst/>
              </a:rPr>
              <a:t> </a:t>
            </a:r>
            <a:r>
              <a:rPr lang="hu-HU" sz="1500" i="1" dirty="0" err="1">
                <a:solidFill>
                  <a:srgbClr val="000000"/>
                </a:solidFill>
                <a:effectLst/>
              </a:rPr>
              <a:t>Rajpurkar</a:t>
            </a:r>
            <a:r>
              <a:rPr lang="hu-HU" sz="1500" i="1" dirty="0">
                <a:solidFill>
                  <a:srgbClr val="000000"/>
                </a:solidFill>
              </a:rPr>
              <a:t>, 2016</a:t>
            </a:r>
            <a:r>
              <a:rPr lang="hu-HU" sz="1500" i="1" dirty="0"/>
              <a:t>)</a:t>
            </a:r>
          </a:p>
          <a:p>
            <a:r>
              <a:rPr lang="hu-HU" sz="2200" dirty="0"/>
              <a:t>Lépések:</a:t>
            </a:r>
          </a:p>
          <a:p>
            <a:pPr lvl="1"/>
            <a:r>
              <a:rPr lang="hu-HU" sz="2200" dirty="0"/>
              <a:t>Szövegtisztítás</a:t>
            </a:r>
            <a:endParaRPr lang="hu-HU" sz="1800" dirty="0"/>
          </a:p>
          <a:p>
            <a:pPr lvl="1"/>
            <a:r>
              <a:rPr lang="hu-HU" sz="2200" dirty="0" err="1"/>
              <a:t>Semantic</a:t>
            </a:r>
            <a:r>
              <a:rPr lang="hu-HU" sz="2200" dirty="0"/>
              <a:t> </a:t>
            </a:r>
            <a:r>
              <a:rPr lang="hu-HU" sz="2200" dirty="0" err="1"/>
              <a:t>Chunking</a:t>
            </a:r>
            <a:endParaRPr lang="hu-HU" sz="220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0D33E1A-9F78-8DDB-E533-F6F10450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4093-34E7-DB4F-8E21-29319E040103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4E7E744-A3B0-E6B0-D52B-2E63E6FD0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4</a:t>
            </a:fld>
            <a:r>
              <a:rPr lang="hu-HU" dirty="0"/>
              <a:t>/23</a:t>
            </a:r>
          </a:p>
        </p:txBody>
      </p:sp>
      <p:pic>
        <p:nvPicPr>
          <p:cNvPr id="7" name="Kép 6" descr="A képen Diagram, diagram, sor látható&#10;&#10;Automatikusan generált leírás">
            <a:extLst>
              <a:ext uri="{FF2B5EF4-FFF2-40B4-BE49-F238E27FC236}">
                <a16:creationId xmlns:a16="http://schemas.microsoft.com/office/drawing/2014/main" id="{CA704962-EB11-3E96-E64E-CCF488316B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3794" y="3175031"/>
            <a:ext cx="8031064" cy="318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746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0A4660E-4A32-038B-AF65-015EA7CCE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hu-HU" sz="4600" b="1" dirty="0"/>
              <a:t>Szövegbeágyazás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7C052BD-6EB2-AAA0-16FF-931515F30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5468112" cy="3547872"/>
          </a:xfrm>
        </p:spPr>
        <p:txBody>
          <a:bodyPr anchor="t">
            <a:normAutofit/>
          </a:bodyPr>
          <a:lstStyle/>
          <a:p>
            <a:r>
              <a:rPr lang="hu-HU" sz="2200" dirty="0"/>
              <a:t>A szövegrészek vektoros reprezentációja</a:t>
            </a:r>
          </a:p>
          <a:p>
            <a:r>
              <a:rPr lang="hu-HU" sz="2200" dirty="0" err="1"/>
              <a:t>Sentence</a:t>
            </a:r>
            <a:r>
              <a:rPr lang="hu-HU" sz="2200" dirty="0"/>
              <a:t> Transformers</a:t>
            </a:r>
          </a:p>
          <a:p>
            <a:pPr lvl="1"/>
            <a:r>
              <a:rPr lang="hu-HU" sz="2200" dirty="0"/>
              <a:t>all-MiniLM-L6-v2 (384 dimenzió)</a:t>
            </a:r>
          </a:p>
          <a:p>
            <a:pPr lvl="1"/>
            <a:r>
              <a:rPr lang="hu-HU" sz="2200" dirty="0" err="1"/>
              <a:t>Snowflake's</a:t>
            </a:r>
            <a:r>
              <a:rPr lang="hu-HU" sz="2200" dirty="0"/>
              <a:t> Arctic-embed-l-v2.0</a:t>
            </a:r>
            <a:br>
              <a:rPr lang="hu-HU" sz="2200" dirty="0"/>
            </a:br>
            <a:r>
              <a:rPr lang="hu-HU" sz="2200" dirty="0"/>
              <a:t>(1024 dimenzió)</a:t>
            </a:r>
          </a:p>
          <a:p>
            <a:endParaRPr lang="hu-HU" sz="2200" dirty="0"/>
          </a:p>
          <a:p>
            <a:endParaRPr lang="hu-HU" sz="2200" dirty="0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838C620-5264-DB09-4CF1-E8C34315C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388711"/>
            <a:ext cx="5458968" cy="4080577"/>
          </a:xfrm>
          <a:prstGeom prst="rect">
            <a:avLst/>
          </a:prstGeom>
        </p:spPr>
      </p:pic>
      <p:sp>
        <p:nvSpPr>
          <p:cNvPr id="6" name="Dátum helye 5">
            <a:extLst>
              <a:ext uri="{FF2B5EF4-FFF2-40B4-BE49-F238E27FC236}">
                <a16:creationId xmlns:a16="http://schemas.microsoft.com/office/drawing/2014/main" id="{5FC17286-E09C-988D-7A3E-A6EA492CB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D7766-E8FF-F045-B46B-9108152DAA94}" type="datetime1">
              <a:rPr lang="hu-HU" smtClean="0"/>
              <a:t>2026. 01. 05.</a:t>
            </a:fld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C011C3C-48AD-743A-BE84-CF8CD44B5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1F88ADF-3301-4598-B089-C6A4CC92BE83}" type="slidenum">
              <a:rPr lang="hu-HU" smtClean="0"/>
              <a:t>5</a:t>
            </a:fld>
            <a:r>
              <a:rPr lang="hu-HU" dirty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2242987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9F3E87-EBE0-66DC-D57E-421234F30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Hasonlóságmérési technikák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1D3208-6822-370E-384A-EFB65A7D6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Koszinusz hasonlóság</a:t>
            </a:r>
          </a:p>
          <a:p>
            <a:pPr lvl="1"/>
            <a:endParaRPr lang="hu-HU" dirty="0"/>
          </a:p>
          <a:p>
            <a:pPr lvl="1"/>
            <a:endParaRPr lang="hu-HU" dirty="0"/>
          </a:p>
          <a:p>
            <a:pPr marL="457200" lvl="1" indent="0">
              <a:buNone/>
            </a:pPr>
            <a:endParaRPr lang="hu-HU" dirty="0"/>
          </a:p>
          <a:p>
            <a:endParaRPr lang="hu-HU" dirty="0"/>
          </a:p>
          <a:p>
            <a:r>
              <a:rPr lang="hu-HU" dirty="0"/>
              <a:t>Euklideszi távolság</a:t>
            </a:r>
          </a:p>
          <a:p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pic>
        <p:nvPicPr>
          <p:cNvPr id="4" name="Kép 3" descr="A képen Betűtípus, szöveg, fehér, diagram látható&#10;&#10;Automatikusan generált leírás">
            <a:extLst>
              <a:ext uri="{FF2B5EF4-FFF2-40B4-BE49-F238E27FC236}">
                <a16:creationId xmlns:a16="http://schemas.microsoft.com/office/drawing/2014/main" id="{0B81ECA3-4102-FB78-48FC-AFD4041D17D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048" y="2337365"/>
            <a:ext cx="3918545" cy="1396832"/>
          </a:xfrm>
          <a:prstGeom prst="rect">
            <a:avLst/>
          </a:prstGeom>
        </p:spPr>
      </p:pic>
      <p:sp>
        <p:nvSpPr>
          <p:cNvPr id="7" name="Dátum helye 6">
            <a:extLst>
              <a:ext uri="{FF2B5EF4-FFF2-40B4-BE49-F238E27FC236}">
                <a16:creationId xmlns:a16="http://schemas.microsoft.com/office/drawing/2014/main" id="{0C16F16A-0BC8-180B-88A1-FD1205240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87468-36DB-7F46-920C-0F19CC9A9134}" type="datetime1">
              <a:rPr lang="hu-HU" smtClean="0"/>
              <a:t>2026. 01. 05.</a:t>
            </a:fld>
            <a:endParaRPr lang="hu-HU"/>
          </a:p>
        </p:txBody>
      </p:sp>
      <p:sp>
        <p:nvSpPr>
          <p:cNvPr id="8" name="Dia számának helye 7">
            <a:extLst>
              <a:ext uri="{FF2B5EF4-FFF2-40B4-BE49-F238E27FC236}">
                <a16:creationId xmlns:a16="http://schemas.microsoft.com/office/drawing/2014/main" id="{D8D7187B-3D5F-EB1E-39BB-72BB69B1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6</a:t>
            </a:fld>
            <a:r>
              <a:rPr lang="hu-HU" dirty="0"/>
              <a:t>/23</a:t>
            </a:r>
          </a:p>
        </p:txBody>
      </p:sp>
      <p:pic>
        <p:nvPicPr>
          <p:cNvPr id="9" name="Kép 8" descr="A képen Betűtípus, diagram, sor, fehér látható&#10;&#10;Automatikusan generált leírás">
            <a:extLst>
              <a:ext uri="{FF2B5EF4-FFF2-40B4-BE49-F238E27FC236}">
                <a16:creationId xmlns:a16="http://schemas.microsoft.com/office/drawing/2014/main" id="{08C1ED94-B01F-DE82-CCA5-462D7ED018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049" y="4079594"/>
            <a:ext cx="3104670" cy="1923000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6217F819-8BCE-2330-A7A0-C4736D45FF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85888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275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1989D33-1F34-EFC3-2811-8F78ED2B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4600" b="1"/>
              <a:t>Klaszterezési módszerek a pipeline-ban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C932037-C5E5-5EDE-7C62-8003AA6F1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Alapértelmezett</a:t>
            </a:r>
            <a:r>
              <a:rPr lang="en-US" sz="2400" b="1" dirty="0"/>
              <a:t> </a:t>
            </a:r>
            <a:r>
              <a:rPr lang="en-US" sz="2400" b="1" dirty="0" err="1"/>
              <a:t>megközelítés</a:t>
            </a:r>
            <a:r>
              <a:rPr lang="en-US" sz="2400" b="1" dirty="0"/>
              <a:t>:</a:t>
            </a:r>
            <a:r>
              <a:rPr lang="en-US" sz="2400" dirty="0"/>
              <a:t> similarity search </a:t>
            </a:r>
            <a:r>
              <a:rPr lang="en-US" sz="2400" dirty="0" err="1"/>
              <a:t>minden</a:t>
            </a:r>
            <a:r>
              <a:rPr lang="en-US" sz="2400" dirty="0"/>
              <a:t> </a:t>
            </a:r>
            <a:r>
              <a:rPr lang="en-US" sz="2400" dirty="0" err="1"/>
              <a:t>embeddingen</a:t>
            </a:r>
            <a:r>
              <a:rPr lang="en-US" sz="2400" dirty="0"/>
              <a:t> (Brute force)</a:t>
            </a:r>
            <a:endParaRPr lang="hu-HU" sz="2400" dirty="0"/>
          </a:p>
          <a:p>
            <a:r>
              <a:rPr lang="hu-HU" sz="2400" b="1" dirty="0"/>
              <a:t>Javasolt </a:t>
            </a:r>
            <a:r>
              <a:rPr lang="hu-HU" sz="2400" b="1" dirty="0" err="1"/>
              <a:t>klaszterezés</a:t>
            </a:r>
            <a:r>
              <a:rPr lang="hu-HU" sz="2400" b="1" dirty="0"/>
              <a:t>-alapú megközelítés: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 err="1"/>
              <a:t>Embeddingek</a:t>
            </a:r>
            <a:r>
              <a:rPr lang="hu-HU" dirty="0"/>
              <a:t> </a:t>
            </a:r>
            <a:r>
              <a:rPr lang="hu-HU" dirty="0" err="1"/>
              <a:t>klaszterezése</a:t>
            </a:r>
            <a:endParaRPr lang="hu-HU" dirty="0"/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Hasonlóságkeresés először a klaszter-</a:t>
            </a:r>
            <a:r>
              <a:rPr lang="hu-HU" dirty="0" err="1"/>
              <a:t>centroidokra</a:t>
            </a:r>
            <a:endParaRPr lang="hu-HU" dirty="0"/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Részletes keresés csak a legrelevánsabb klasztereken belül</a:t>
            </a:r>
          </a:p>
          <a:p>
            <a:pPr marL="914400" lvl="1" indent="-457200">
              <a:buFont typeface="+mj-lt"/>
              <a:buAutoNum type="arabicPeriod"/>
            </a:pPr>
            <a:r>
              <a:rPr lang="hu-HU" dirty="0"/>
              <a:t>Újonnan érkező dokumentumok integrálása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B4F2DB9-72D6-5A2C-0BA0-9544D7596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D24C2032-E76D-2848-BAF7-0E597B598D68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548E5D5-F0E1-BE18-E9A2-172A965D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hu-HU" smtClean="0"/>
              <a:pPr>
                <a:spcAft>
                  <a:spcPts val="600"/>
                </a:spcAft>
              </a:pPr>
              <a:t>7</a:t>
            </a:fld>
            <a:r>
              <a:rPr lang="hu-HU" dirty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1599937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257D935-F018-FC86-5390-C2B7453B3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Javasolt</a:t>
            </a: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RAG-</a:t>
            </a:r>
            <a:r>
              <a:rPr lang="en-US" sz="6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folyamat</a:t>
            </a:r>
            <a:endParaRPr lang="en-US" sz="6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átum helye 5">
            <a:extLst>
              <a:ext uri="{FF2B5EF4-FFF2-40B4-BE49-F238E27FC236}">
                <a16:creationId xmlns:a16="http://schemas.microsoft.com/office/drawing/2014/main" id="{755509C4-3B07-3F44-A1AF-BC312BDBE6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32D23C5-3E05-FB40-811A-7852437E3550}" type="datetime1">
              <a:rPr lang="hu-HU" smtClean="0">
                <a:solidFill>
                  <a:schemeClr val="tx1">
                    <a:tint val="75000"/>
                  </a:schemeClr>
                </a:solidFill>
              </a:rPr>
              <a:t>2026. 01. 05.</a:t>
            </a:fld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31C41BA-0408-1C95-90B5-3A2002F2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r>
              <a:rPr lang="en-US" dirty="0">
                <a:solidFill>
                  <a:schemeClr val="tx1">
                    <a:tint val="75000"/>
                  </a:schemeClr>
                </a:solidFill>
              </a:rPr>
              <a:t>/23</a:t>
            </a:r>
          </a:p>
        </p:txBody>
      </p:sp>
      <p:pic>
        <p:nvPicPr>
          <p:cNvPr id="9" name="Tartalom helye 8" descr="A képen képernyőkép, diagram, sor látható&#10;&#10;Automatikusan generált leírás">
            <a:extLst>
              <a:ext uri="{FF2B5EF4-FFF2-40B4-BE49-F238E27FC236}">
                <a16:creationId xmlns:a16="http://schemas.microsoft.com/office/drawing/2014/main" id="{9802B26B-5623-55E8-689D-DE2B61E993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678" y="1818226"/>
            <a:ext cx="10428644" cy="4559630"/>
          </a:xfrm>
        </p:spPr>
      </p:pic>
    </p:spTree>
    <p:extLst>
      <p:ext uri="{BB962C8B-B14F-4D97-AF65-F5344CB8AC3E}">
        <p14:creationId xmlns:p14="http://schemas.microsoft.com/office/powerpoint/2010/main" val="382256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69670FB-06C8-7731-7B4D-6FB4E9286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hu-HU" sz="4600" b="1" dirty="0"/>
              <a:t>Dinamikusan változó dokumentumtér kezelése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A83A24-EFD9-58C9-AA84-885E6938A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649726"/>
          </a:xfrm>
        </p:spPr>
        <p:txBody>
          <a:bodyPr>
            <a:normAutofit/>
          </a:bodyPr>
          <a:lstStyle/>
          <a:p>
            <a:r>
              <a:rPr lang="hu-HU" sz="1800" b="1" dirty="0" err="1"/>
              <a:t>OnlineKMeans</a:t>
            </a:r>
            <a:r>
              <a:rPr lang="hu-HU" sz="1800" b="1" dirty="0"/>
              <a:t>:</a:t>
            </a:r>
          </a:p>
          <a:p>
            <a:pPr lvl="1"/>
            <a:r>
              <a:rPr lang="hu-HU" sz="1800" dirty="0" err="1"/>
              <a:t>KMeans</a:t>
            </a:r>
            <a:r>
              <a:rPr lang="hu-HU" sz="1800" dirty="0"/>
              <a:t>++ inicializálás</a:t>
            </a:r>
          </a:p>
          <a:p>
            <a:pPr lvl="1"/>
            <a:r>
              <a:rPr lang="hu-HU" sz="1800" dirty="0" err="1"/>
              <a:t>Centroidok</a:t>
            </a:r>
            <a:r>
              <a:rPr lang="hu-HU" sz="1800" dirty="0"/>
              <a:t> dinamikus frissítése:</a:t>
            </a:r>
          </a:p>
          <a:p>
            <a:pPr marL="457200" lvl="1" indent="0">
              <a:buNone/>
            </a:pPr>
            <a:endParaRPr lang="hu-HU" sz="1400" dirty="0"/>
          </a:p>
          <a:p>
            <a:pPr marL="457200" lvl="1" indent="0">
              <a:buNone/>
            </a:pPr>
            <a:endParaRPr lang="hu-HU" sz="1400" dirty="0"/>
          </a:p>
          <a:p>
            <a:pPr marL="457200" lvl="1" indent="0">
              <a:buNone/>
            </a:pPr>
            <a:endParaRPr lang="hu-HU" sz="1400" dirty="0"/>
          </a:p>
          <a:p>
            <a:pPr lvl="1"/>
            <a:endParaRPr lang="hu-HU" sz="1600" dirty="0"/>
          </a:p>
          <a:p>
            <a:pPr lvl="1"/>
            <a:r>
              <a:rPr lang="hu-HU" sz="1800" dirty="0"/>
              <a:t>Új klaszterek létrehozása</a:t>
            </a:r>
          </a:p>
          <a:p>
            <a:pPr lvl="1"/>
            <a:r>
              <a:rPr lang="hu-HU" sz="1800" dirty="0"/>
              <a:t>Meglévő klaszterek összevonása</a:t>
            </a:r>
          </a:p>
          <a:p>
            <a:pPr lvl="1"/>
            <a:r>
              <a:rPr lang="hu-HU" sz="1800" dirty="0"/>
              <a:t>Gyors, memória hatékony megközelítés</a:t>
            </a:r>
          </a:p>
          <a:p>
            <a:pPr lvl="1"/>
            <a:r>
              <a:rPr lang="hu-HU" sz="1800" dirty="0"/>
              <a:t>Függ a beérkező adatok sorrendjétől</a:t>
            </a:r>
          </a:p>
          <a:p>
            <a:pPr lvl="1"/>
            <a:endParaRPr lang="hu-HU" sz="140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745C1BA-EB1E-45BE-667D-E9C4B10C52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5B90B19-A1FC-5745-9E3E-9A58B2658B29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30D9E1E-E844-A26C-DE5F-59457F1DB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hu-HU" smtClean="0"/>
              <a:pPr>
                <a:spcAft>
                  <a:spcPts val="600"/>
                </a:spcAft>
              </a:pPr>
              <a:t>9</a:t>
            </a:fld>
            <a:r>
              <a:rPr lang="hu-HU" dirty="0"/>
              <a:t>/23</a:t>
            </a:r>
          </a:p>
        </p:txBody>
      </p:sp>
      <p:pic>
        <p:nvPicPr>
          <p:cNvPr id="8" name="Kép 7" descr="A képen szöveg, virág, képernyőkép látható&#10;&#10;Automatikusan generált leírás">
            <a:extLst>
              <a:ext uri="{FF2B5EF4-FFF2-40B4-BE49-F238E27FC236}">
                <a16:creationId xmlns:a16="http://schemas.microsoft.com/office/drawing/2014/main" id="{47A3CB95-E303-4CC1-F4D5-60EBAF4B2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533" y="1936713"/>
            <a:ext cx="5613795" cy="4478420"/>
          </a:xfrm>
          <a:prstGeom prst="rect">
            <a:avLst/>
          </a:prstGeom>
        </p:spPr>
      </p:pic>
      <p:pic>
        <p:nvPicPr>
          <p:cNvPr id="7" name="Kép 6" descr="A képen szöveg, Betűtípus, sor, fehér látható&#10;&#10;Automatikusan generált leírás">
            <a:extLst>
              <a:ext uri="{FF2B5EF4-FFF2-40B4-BE49-F238E27FC236}">
                <a16:creationId xmlns:a16="http://schemas.microsoft.com/office/drawing/2014/main" id="{933C162E-CF86-3CC3-BB8D-4B440F106B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2778" y="3699673"/>
            <a:ext cx="4123222" cy="84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12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4C5B991-DADF-8037-2F70-760F6DF2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100" b="1" dirty="0"/>
              <a:t>Az </a:t>
            </a:r>
            <a:r>
              <a:rPr lang="hu-HU" sz="4100" b="1" dirty="0" err="1"/>
              <a:t>OnlineKMeans</a:t>
            </a:r>
            <a:r>
              <a:rPr lang="hu-HU" sz="4100" b="1" dirty="0"/>
              <a:t> algoritmus </a:t>
            </a:r>
            <a:r>
              <a:rPr lang="hu-HU" sz="4100" b="1" dirty="0" err="1"/>
              <a:t>pszeudokódja</a:t>
            </a:r>
            <a:endParaRPr lang="hu-HU" sz="4100" b="1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9B4EA16-1807-1461-C3A0-9C7A7B680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F9215-F87C-794D-9DB3-DA814D7D6B51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B584BDD-2D8D-647B-59AD-888BF154A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10</a:t>
            </a:fld>
            <a:r>
              <a:rPr lang="hu-HU" dirty="0"/>
              <a:t>/23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A0F2EC60-07E1-40E5-2E7C-5798A9BCD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550" y="1300957"/>
            <a:ext cx="4152900" cy="304800"/>
          </a:xfrm>
          <a:prstGeom prst="rect">
            <a:avLst/>
          </a:prstGeom>
        </p:spPr>
      </p:pic>
      <p:pic>
        <p:nvPicPr>
          <p:cNvPr id="9" name="Tartalom helye 8">
            <a:extLst>
              <a:ext uri="{FF2B5EF4-FFF2-40B4-BE49-F238E27FC236}">
                <a16:creationId xmlns:a16="http://schemas.microsoft.com/office/drawing/2014/main" id="{6E4BE6F1-8C8E-3ADF-FC5C-3BBB424244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026755" y="1525646"/>
            <a:ext cx="8138490" cy="519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20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1CC8E9-356E-2A8A-498D-1B17C279F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100" b="1" dirty="0"/>
              <a:t>Futásidő a klaszterek számának függvényében</a:t>
            </a:r>
            <a:endParaRPr lang="hu-HU" sz="41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93B8D71-B18A-E16D-5FBE-EF862C7BB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Futásidő mérésének beállításai:</a:t>
            </a:r>
          </a:p>
          <a:p>
            <a:pPr lvl="1"/>
            <a:r>
              <a:rPr lang="hu-HU" dirty="0"/>
              <a:t>84.007 </a:t>
            </a:r>
            <a:r>
              <a:rPr lang="hu-HU" dirty="0" err="1"/>
              <a:t>embedding</a:t>
            </a:r>
            <a:r>
              <a:rPr lang="hu-HU" dirty="0"/>
              <a:t> vektor (18.891 dokumentumból) </a:t>
            </a:r>
            <a:r>
              <a:rPr lang="hu-HU" dirty="0" err="1"/>
              <a:t>klaszterezése</a:t>
            </a:r>
            <a:r>
              <a:rPr lang="hu-HU" dirty="0"/>
              <a:t> változó klaszterszámokra.</a:t>
            </a:r>
          </a:p>
          <a:p>
            <a:pPr lvl="1"/>
            <a:r>
              <a:rPr lang="hu-HU" dirty="0"/>
              <a:t>Algoritmusok:</a:t>
            </a:r>
          </a:p>
          <a:p>
            <a:pPr lvl="2"/>
            <a:r>
              <a:rPr lang="hu-HU" dirty="0" err="1"/>
              <a:t>KMeans</a:t>
            </a:r>
            <a:endParaRPr lang="hu-HU" dirty="0"/>
          </a:p>
          <a:p>
            <a:pPr lvl="2"/>
            <a:r>
              <a:rPr lang="hu-HU" dirty="0" err="1"/>
              <a:t>MiniBatchKMeans</a:t>
            </a:r>
            <a:endParaRPr lang="hu-HU" dirty="0"/>
          </a:p>
          <a:p>
            <a:pPr lvl="2"/>
            <a:r>
              <a:rPr lang="hu-HU" dirty="0" err="1"/>
              <a:t>OnlineKMeans</a:t>
            </a:r>
            <a:endParaRPr lang="hu-HU" dirty="0"/>
          </a:p>
          <a:p>
            <a:pPr lvl="1"/>
            <a:endParaRPr lang="hu-HU" dirty="0"/>
          </a:p>
          <a:p>
            <a:pPr lvl="1"/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877D505-C77A-3697-A926-4FDA6C789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FAA20-991C-5440-821D-EF7936105166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F1F55054-6EE2-F770-6B80-2C7A6299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11</a:t>
            </a:fld>
            <a:r>
              <a:rPr lang="hu-HU" dirty="0"/>
              <a:t>/23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CC75F43D-5E96-C6FF-F194-39B287E96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85888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339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525F4D4-ED51-2820-49AF-F3EC1E6A2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5177"/>
          </a:xfrm>
        </p:spPr>
        <p:txBody>
          <a:bodyPr>
            <a:normAutofit/>
          </a:bodyPr>
          <a:lstStyle/>
          <a:p>
            <a:r>
              <a:rPr lang="hu-HU" sz="4100" b="1" dirty="0"/>
              <a:t>Futásidő a klaszterek számának függvényében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BD0C8C3-871B-8446-5A95-F46A71244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D0D19-1B35-7A4F-93B5-1EDA6F972E33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869A216-EF38-C2EE-C5A0-862D630A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12</a:t>
            </a:fld>
            <a:r>
              <a:rPr lang="hu-HU" dirty="0"/>
              <a:t>/23</a:t>
            </a:r>
          </a:p>
        </p:txBody>
      </p:sp>
      <p:pic>
        <p:nvPicPr>
          <p:cNvPr id="6" name="Kép 5" descr="A képen szöveg, sor, Diagram, képernyőkép látható&#10;&#10;Automatikusan generált leírás">
            <a:extLst>
              <a:ext uri="{FF2B5EF4-FFF2-40B4-BE49-F238E27FC236}">
                <a16:creationId xmlns:a16="http://schemas.microsoft.com/office/drawing/2014/main" id="{6DA06527-DE02-E4A8-3B3B-8DCE7840F8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35" y="1458646"/>
            <a:ext cx="11190529" cy="4432868"/>
          </a:xfrm>
          <a:prstGeom prst="rect">
            <a:avLst/>
          </a:prstGeom>
        </p:spPr>
      </p:pic>
      <p:pic>
        <p:nvPicPr>
          <p:cNvPr id="9" name="Kép 8" descr="A képen szöveg, sor, képernyőkép, Diagram látható&#10;&#10;Automatikusan generált leírás">
            <a:extLst>
              <a:ext uri="{FF2B5EF4-FFF2-40B4-BE49-F238E27FC236}">
                <a16:creationId xmlns:a16="http://schemas.microsoft.com/office/drawing/2014/main" id="{9C5DC3D4-9239-082D-165B-45262CC053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35" y="1459914"/>
            <a:ext cx="11187328" cy="443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42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8C4855-CAF2-5DD9-532A-7A0D88048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Klaszterezési</a:t>
            </a:r>
            <a:r>
              <a:rPr lang="hu-HU" b="1" dirty="0"/>
              <a:t> algoritmusok pontossága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B538570-B920-9406-9988-BB1C0443B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sz="3200" dirty="0"/>
              <a:t>Pontossági mérés beállításai:</a:t>
            </a:r>
          </a:p>
          <a:p>
            <a:pPr lvl="1"/>
            <a:r>
              <a:rPr lang="hu-HU" sz="2800" dirty="0"/>
              <a:t>Szintetikus adathalmaz:</a:t>
            </a:r>
          </a:p>
          <a:p>
            <a:pPr lvl="2"/>
            <a:r>
              <a:rPr lang="hu-HU" sz="2400" dirty="0"/>
              <a:t>500 dimenziós vektorok</a:t>
            </a:r>
          </a:p>
          <a:p>
            <a:pPr lvl="2"/>
            <a:r>
              <a:rPr lang="hu-HU" sz="2400" dirty="0"/>
              <a:t>10.000 adatpont</a:t>
            </a:r>
          </a:p>
          <a:p>
            <a:pPr lvl="2"/>
            <a:r>
              <a:rPr lang="hu-HU" sz="2400" dirty="0"/>
              <a:t>200, 300, 400, 500, 800 klaszter</a:t>
            </a:r>
          </a:p>
          <a:p>
            <a:pPr lvl="2"/>
            <a:r>
              <a:rPr lang="hu-HU" sz="2400" dirty="0"/>
              <a:t>Minden klaszterszámra </a:t>
            </a:r>
            <a:r>
              <a:rPr lang="el-G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σ = 2,</a:t>
            </a:r>
            <a:r>
              <a:rPr lang="hu-H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l-GR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4, 6, 8 </a:t>
            </a:r>
            <a:r>
              <a:rPr lang="hu-HU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és 10 szórással</a:t>
            </a:r>
            <a:endParaRPr lang="hu-HU" sz="240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7B084F8-7887-3ADC-D4D8-A26425144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F19C3-C554-0D49-858F-BC5A4F8BAF23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49B74D0-CF8E-A658-AA33-4DF54D917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13</a:t>
            </a:fld>
            <a:r>
              <a:rPr lang="hu-HU" dirty="0"/>
              <a:t>/23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5706CA3B-1CFC-6554-FE05-C02C44B7B3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85888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20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5C9B2F7-33BF-5C12-61DB-2CD68A814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b="1" dirty="0"/>
              <a:t>Pontossági eredmények (ARI és NMI)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638CB8B-7386-89C9-3034-99523D92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7C4ED-070D-D147-BEC5-7EAE588D72B2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8C09457-CD5D-D0C2-3D41-F3729923E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14</a:t>
            </a:fld>
            <a:r>
              <a:rPr lang="hu-HU" dirty="0"/>
              <a:t>/23</a:t>
            </a:r>
          </a:p>
        </p:txBody>
      </p:sp>
      <p:pic>
        <p:nvPicPr>
          <p:cNvPr id="13" name="Tartalom helye 12" descr="A képen szöveg, képernyőkép, Betűtípus, szám látható&#10;&#10;Automatikusan generált leírás">
            <a:extLst>
              <a:ext uri="{FF2B5EF4-FFF2-40B4-BE49-F238E27FC236}">
                <a16:creationId xmlns:a16="http://schemas.microsoft.com/office/drawing/2014/main" id="{064548B2-D930-DEC7-0BF1-99A02E2961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780" y="1317287"/>
            <a:ext cx="7806440" cy="5412465"/>
          </a:xfrm>
        </p:spPr>
      </p:pic>
    </p:spTree>
    <p:extLst>
      <p:ext uri="{BB962C8B-B14F-4D97-AF65-F5344CB8AC3E}">
        <p14:creationId xmlns:p14="http://schemas.microsoft.com/office/powerpoint/2010/main" val="290535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6C46A4-6D8D-D412-17FC-B03442173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b="1" dirty="0"/>
              <a:t>A visszakeresési folyamat (</a:t>
            </a:r>
            <a:r>
              <a:rPr lang="hu-HU" sz="4000" b="1" dirty="0" err="1"/>
              <a:t>retrieval</a:t>
            </a:r>
            <a:r>
              <a:rPr lang="hu-HU" sz="4000" b="1" dirty="0"/>
              <a:t> </a:t>
            </a:r>
            <a:r>
              <a:rPr lang="hu-HU" sz="4000" b="1" dirty="0" err="1"/>
              <a:t>pipeline</a:t>
            </a:r>
            <a:r>
              <a:rPr lang="hu-HU" sz="4000" b="1" dirty="0"/>
              <a:t>) kiértékelése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9235CC-06AC-C5E8-688B-C1936A5D3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hu-HU" dirty="0"/>
              <a:t>A mérés beállításai:</a:t>
            </a:r>
          </a:p>
          <a:p>
            <a:pPr lvl="1"/>
            <a:r>
              <a:rPr lang="hu-HU" dirty="0"/>
              <a:t>Cél: Minden </a:t>
            </a:r>
            <a:r>
              <a:rPr lang="hu-HU" dirty="0" err="1"/>
              <a:t>query-hez</a:t>
            </a:r>
            <a:r>
              <a:rPr lang="hu-HU" dirty="0"/>
              <a:t> (87.599) megtalálni a legrelevánsabb </a:t>
            </a:r>
            <a:r>
              <a:rPr lang="hu-HU" dirty="0" err="1"/>
              <a:t>embedding</a:t>
            </a:r>
            <a:r>
              <a:rPr lang="hu-HU" dirty="0"/>
              <a:t> vektort</a:t>
            </a:r>
          </a:p>
          <a:p>
            <a:pPr lvl="1"/>
            <a:r>
              <a:rPr lang="hu-HU" dirty="0"/>
              <a:t>Kérdések 15%-ára nincs válasz</a:t>
            </a:r>
          </a:p>
          <a:p>
            <a:pPr lvl="1"/>
            <a:r>
              <a:rPr lang="hu-HU" dirty="0"/>
              <a:t>Ha a hasonlóság kisebb, mint 0,6            Nincs válasz a kérdésre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20F0211-477B-15E0-2EBF-2A47A202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03250-059E-6C49-9AEC-D7E11F74EA17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B189B6E-7E3F-3280-6C58-EF7283E0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15</a:t>
            </a:fld>
            <a:r>
              <a:rPr lang="hu-HU" dirty="0"/>
              <a:t>/23</a:t>
            </a:r>
          </a:p>
        </p:txBody>
      </p:sp>
      <p:pic>
        <p:nvPicPr>
          <p:cNvPr id="7" name="Ábra 6" descr="Jobbra mutató nyíl egyszínű kitöltéssel">
            <a:extLst>
              <a:ext uri="{FF2B5EF4-FFF2-40B4-BE49-F238E27FC236}">
                <a16:creationId xmlns:a16="http://schemas.microsoft.com/office/drawing/2014/main" id="{7120109B-EAC2-F9F6-35EF-CAAE89E341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3652052"/>
            <a:ext cx="467031" cy="511712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D4FACBE2-2C8B-8AAE-B2F1-5B95A68DA5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52588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84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9D9E66-EAAD-305B-FE2A-DC7CD4764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b="1" dirty="0"/>
              <a:t>A visszakeresési folyamat (</a:t>
            </a:r>
            <a:r>
              <a:rPr lang="hu-HU" sz="4000" b="1" dirty="0" err="1"/>
              <a:t>retrieval</a:t>
            </a:r>
            <a:r>
              <a:rPr lang="hu-HU" sz="4000" b="1" dirty="0"/>
              <a:t> </a:t>
            </a:r>
            <a:r>
              <a:rPr lang="hu-HU" sz="4000" b="1" dirty="0" err="1"/>
              <a:t>pipeline</a:t>
            </a:r>
            <a:r>
              <a:rPr lang="hu-HU" sz="4000" b="1" dirty="0"/>
              <a:t>) kiértékelése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F3B992D-1AB5-B0AB-3BB0-71AD28F8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B4C4B-4FCE-684E-BDCF-894303FF802E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21768A6-17E9-2E12-197F-2D3C9597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16</a:t>
            </a:fld>
            <a:r>
              <a:rPr lang="hu-HU" dirty="0"/>
              <a:t>/23</a:t>
            </a:r>
          </a:p>
        </p:txBody>
      </p:sp>
      <p:pic>
        <p:nvPicPr>
          <p:cNvPr id="8" name="Tartalom helye 7" descr="A képen szöveg, sor, képernyőkép, diagram látható&#10;&#10;Automatikusan generált leírás">
            <a:extLst>
              <a:ext uri="{FF2B5EF4-FFF2-40B4-BE49-F238E27FC236}">
                <a16:creationId xmlns:a16="http://schemas.microsoft.com/office/drawing/2014/main" id="{A01BC323-3718-5EF4-A148-448EA70B45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39" y="1535769"/>
            <a:ext cx="11092721" cy="4595556"/>
          </a:xfrm>
        </p:spPr>
      </p:pic>
      <p:pic>
        <p:nvPicPr>
          <p:cNvPr id="10" name="Kép 9" descr="A képen szöveg, sor, Diagram, diagram látható&#10;&#10;Automatikusan generált leírás">
            <a:extLst>
              <a:ext uri="{FF2B5EF4-FFF2-40B4-BE49-F238E27FC236}">
                <a16:creationId xmlns:a16="http://schemas.microsoft.com/office/drawing/2014/main" id="{0813B8AB-2885-83F4-56FA-9A06CFC6C8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39" y="1535769"/>
            <a:ext cx="11105379" cy="46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2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CAF592-6D95-A38C-AFF9-3B09227D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/>
              <a:t>Klaszterezést</a:t>
            </a:r>
            <a:r>
              <a:rPr lang="hu-HU" b="1" dirty="0"/>
              <a:t> használó </a:t>
            </a:r>
            <a:r>
              <a:rPr lang="hu-HU" b="1" dirty="0" err="1"/>
              <a:t>retrieval</a:t>
            </a:r>
            <a:r>
              <a:rPr lang="hu-HU" b="1" dirty="0"/>
              <a:t> </a:t>
            </a:r>
            <a:r>
              <a:rPr lang="hu-HU" b="1" dirty="0" err="1"/>
              <a:t>pipeline</a:t>
            </a:r>
            <a:r>
              <a:rPr lang="hu-HU" b="1" dirty="0"/>
              <a:t> visszakeresési ideje</a:t>
            </a:r>
            <a:endParaRPr lang="hu-HU" dirty="0"/>
          </a:p>
        </p:txBody>
      </p:sp>
      <p:pic>
        <p:nvPicPr>
          <p:cNvPr id="11" name="Tartalom helye 10">
            <a:extLst>
              <a:ext uri="{FF2B5EF4-FFF2-40B4-BE49-F238E27FC236}">
                <a16:creationId xmlns:a16="http://schemas.microsoft.com/office/drawing/2014/main" id="{46DB39A6-DB0D-DE97-078A-A43CA47E4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32" y="1584615"/>
            <a:ext cx="11365536" cy="4683600"/>
          </a:xfr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15BA1C54-996A-D494-3068-DCB259288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67968-9289-324A-8185-9F1024D0E0BB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B8897DA-452A-EDD9-7DE7-3BE7261C8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17</a:t>
            </a:fld>
            <a:r>
              <a:rPr lang="hu-HU" dirty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758528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C3197A-80D4-A704-6EA0-F8FFC3739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b="1" dirty="0"/>
              <a:t>Visszakeresés dinamikusan változó adathalmazon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D1DF59D-CAA9-F2E5-6393-4220ED324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EC71B-C64D-AC47-B57B-94F3463CBF7C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6600EDC-9C01-C620-C471-730F3E688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18</a:t>
            </a:fld>
            <a:r>
              <a:rPr lang="hu-HU" dirty="0"/>
              <a:t>/23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C67A0D2D-9C09-8E77-2B9B-FAA7BB687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>
            <a:normAutofit/>
          </a:bodyPr>
          <a:lstStyle/>
          <a:p>
            <a:r>
              <a:rPr lang="hu-HU" dirty="0"/>
              <a:t>Kiértékelés beállításai:</a:t>
            </a:r>
          </a:p>
          <a:p>
            <a:pPr lvl="1"/>
            <a:r>
              <a:rPr lang="hu-HU" dirty="0"/>
              <a:t>84.007 </a:t>
            </a:r>
            <a:r>
              <a:rPr lang="hu-HU" dirty="0" err="1"/>
              <a:t>embedding</a:t>
            </a:r>
            <a:r>
              <a:rPr lang="hu-HU" dirty="0"/>
              <a:t> vektor, 87.599 </a:t>
            </a:r>
            <a:r>
              <a:rPr lang="hu-HU" dirty="0" err="1"/>
              <a:t>query</a:t>
            </a:r>
            <a:r>
              <a:rPr lang="hu-HU" dirty="0"/>
              <a:t>.</a:t>
            </a:r>
          </a:p>
          <a:p>
            <a:pPr lvl="1"/>
            <a:r>
              <a:rPr lang="hu-HU" dirty="0"/>
              <a:t>Inicializálás </a:t>
            </a:r>
            <a:r>
              <a:rPr lang="hu-HU" dirty="0" err="1"/>
              <a:t>embeddingek</a:t>
            </a:r>
            <a:r>
              <a:rPr lang="hu-HU" dirty="0"/>
              <a:t> 50%-án.</a:t>
            </a:r>
          </a:p>
          <a:p>
            <a:pPr lvl="1"/>
            <a:r>
              <a:rPr lang="hu-HU" dirty="0"/>
              <a:t>Új adatok 2.000-es batch-</a:t>
            </a:r>
            <a:r>
              <a:rPr lang="hu-HU" dirty="0" err="1"/>
              <a:t>ekben</a:t>
            </a:r>
            <a:r>
              <a:rPr lang="hu-HU" dirty="0"/>
              <a:t>.</a:t>
            </a:r>
          </a:p>
          <a:p>
            <a:pPr lvl="1"/>
            <a:r>
              <a:rPr lang="hu-HU" dirty="0"/>
              <a:t>Vizsgált algoritmusok:</a:t>
            </a:r>
          </a:p>
          <a:p>
            <a:pPr lvl="2"/>
            <a:r>
              <a:rPr lang="hu-HU" dirty="0" err="1"/>
              <a:t>KMeans</a:t>
            </a:r>
            <a:endParaRPr lang="hu-HU" dirty="0"/>
          </a:p>
          <a:p>
            <a:pPr lvl="2"/>
            <a:r>
              <a:rPr lang="hu-HU" dirty="0" err="1"/>
              <a:t>MiniBatchKMeans</a:t>
            </a:r>
            <a:endParaRPr lang="hu-HU" dirty="0"/>
          </a:p>
          <a:p>
            <a:pPr lvl="2"/>
            <a:r>
              <a:rPr lang="hu-HU" dirty="0" err="1"/>
              <a:t>OnlineKMeans</a:t>
            </a:r>
            <a:endParaRPr lang="hu-HU" dirty="0"/>
          </a:p>
          <a:p>
            <a:pPr lvl="2"/>
            <a:r>
              <a:rPr lang="hu-HU" dirty="0"/>
              <a:t>FAISS (HNSW)</a:t>
            </a: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1555A286-E27A-84E1-58E0-3747F68537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68450"/>
            <a:ext cx="4152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681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BED8F0-B3A5-60F7-E321-B144BD435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100" b="1" dirty="0" err="1"/>
              <a:t>Accuracy</a:t>
            </a:r>
            <a:r>
              <a:rPr lang="hu-HU" sz="4100" b="1" dirty="0"/>
              <a:t> és </a:t>
            </a:r>
            <a:r>
              <a:rPr lang="hu-HU" sz="4100" b="1" dirty="0" err="1"/>
              <a:t>recall</a:t>
            </a:r>
            <a:r>
              <a:rPr lang="hu-HU" sz="4100" b="1" dirty="0"/>
              <a:t> dinamikus adathalmazon</a:t>
            </a:r>
          </a:p>
        </p:txBody>
      </p:sp>
      <p:pic>
        <p:nvPicPr>
          <p:cNvPr id="7" name="Tartalom helye 6">
            <a:extLst>
              <a:ext uri="{FF2B5EF4-FFF2-40B4-BE49-F238E27FC236}">
                <a16:creationId xmlns:a16="http://schemas.microsoft.com/office/drawing/2014/main" id="{2814D4FF-37CA-07CC-4917-A39068E70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76512"/>
            <a:ext cx="10303920" cy="4683600"/>
          </a:xfr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75C52C96-71A3-7B11-9A08-97D6BE641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C5130-88B4-B04A-A570-CDDCA513217F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0EFBDA3-F08B-8523-65E6-5283DDC38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19</a:t>
            </a:fld>
            <a:r>
              <a:rPr lang="hu-HU" dirty="0"/>
              <a:t>/23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2296B4B3-EF9B-7160-D129-A1B840E03F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76512"/>
            <a:ext cx="10303920" cy="468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657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2C004D-1D65-EB37-2448-8EE4997B4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100" b="1" dirty="0"/>
              <a:t>Frissítési idők összehasonlítása dinamikus adathalmazon</a:t>
            </a:r>
          </a:p>
        </p:txBody>
      </p:sp>
      <p:pic>
        <p:nvPicPr>
          <p:cNvPr id="7" name="Tartalom helye 6" descr="A képen szöveg, képernyőkép, sor, Diagram látható&#10;&#10;Automatikusan generált leírás">
            <a:extLst>
              <a:ext uri="{FF2B5EF4-FFF2-40B4-BE49-F238E27FC236}">
                <a16:creationId xmlns:a16="http://schemas.microsoft.com/office/drawing/2014/main" id="{09BA973A-3273-5842-7415-0A51D97B19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258" y="1552193"/>
            <a:ext cx="8647483" cy="4804157"/>
          </a:xfrm>
        </p:spPr>
      </p:pic>
      <p:sp>
        <p:nvSpPr>
          <p:cNvPr id="4" name="Dátum helye 3">
            <a:extLst>
              <a:ext uri="{FF2B5EF4-FFF2-40B4-BE49-F238E27FC236}">
                <a16:creationId xmlns:a16="http://schemas.microsoft.com/office/drawing/2014/main" id="{118FBCE9-D862-C9E2-701F-A747EB89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DFBD6-396A-C74B-847F-F81995866E7F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3732086-E6AD-86B0-13EA-3E994DC61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20</a:t>
            </a:fld>
            <a:r>
              <a:rPr lang="hu-HU" dirty="0"/>
              <a:t>/23</a:t>
            </a:r>
          </a:p>
        </p:txBody>
      </p:sp>
      <p:pic>
        <p:nvPicPr>
          <p:cNvPr id="9" name="Kép 8" descr="A képen szöveg, sor, Diagram, diagram látható&#10;&#10;Automatikusan generált leírás">
            <a:extLst>
              <a:ext uri="{FF2B5EF4-FFF2-40B4-BE49-F238E27FC236}">
                <a16:creationId xmlns:a16="http://schemas.microsoft.com/office/drawing/2014/main" id="{D65EAF16-EDB2-9027-5E8C-1AF7E77075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941" y="1552193"/>
            <a:ext cx="8650800" cy="48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91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0DBFB062-6D42-EE0F-FED5-084175AC3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hu-HU" sz="5400" b="1"/>
              <a:t>Összefoglalás és kitekintés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3962E74-DC21-438F-65EA-0AC81415F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hu-HU" sz="2400" dirty="0" err="1"/>
              <a:t>OnlineKMeans</a:t>
            </a:r>
            <a:r>
              <a:rPr lang="hu-HU" sz="2400" dirty="0"/>
              <a:t> algoritmus megvalósítása:</a:t>
            </a:r>
          </a:p>
          <a:p>
            <a:pPr lvl="1"/>
            <a:r>
              <a:rPr lang="hu-HU" sz="2000" dirty="0"/>
              <a:t>Gyors, hatékony</a:t>
            </a:r>
          </a:p>
          <a:p>
            <a:r>
              <a:rPr lang="hu-HU" sz="2400" dirty="0"/>
              <a:t>Effektív </a:t>
            </a:r>
            <a:r>
              <a:rPr lang="hu-HU" sz="2400" dirty="0" err="1"/>
              <a:t>retrieval</a:t>
            </a:r>
            <a:r>
              <a:rPr lang="hu-HU" sz="2400" dirty="0"/>
              <a:t> módszer</a:t>
            </a:r>
          </a:p>
          <a:p>
            <a:pPr lvl="1"/>
            <a:r>
              <a:rPr lang="hu-HU" sz="2000" dirty="0"/>
              <a:t>A </a:t>
            </a:r>
            <a:r>
              <a:rPr lang="hu-HU" sz="2000" dirty="0" err="1"/>
              <a:t>klaszterezés</a:t>
            </a:r>
            <a:r>
              <a:rPr lang="hu-HU" sz="2000" dirty="0"/>
              <a:t>-alapú visszakeresés pontosságban és sebességben is hatékony alternatíva</a:t>
            </a:r>
          </a:p>
          <a:p>
            <a:r>
              <a:rPr lang="hu-HU" sz="2400" dirty="0"/>
              <a:t>Újonnan érkező dokumentumok integrálása a tudásbázisba </a:t>
            </a:r>
            <a:r>
              <a:rPr lang="hu-HU" sz="2400" dirty="0" err="1"/>
              <a:t>klaszterezéssel</a:t>
            </a:r>
            <a:endParaRPr lang="hu-HU" sz="2400" dirty="0"/>
          </a:p>
          <a:p>
            <a:r>
              <a:rPr lang="hu-HU" sz="2400" dirty="0"/>
              <a:t>További haladás:</a:t>
            </a:r>
          </a:p>
          <a:p>
            <a:pPr lvl="1"/>
            <a:r>
              <a:rPr lang="hu-HU" sz="2000" dirty="0" err="1"/>
              <a:t>OnlineKMeans</a:t>
            </a:r>
            <a:r>
              <a:rPr lang="hu-HU" sz="2000" dirty="0"/>
              <a:t>: Meglévő klaszterek felbontása variancia/konduktancia alapján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05B2103-E32A-9BB6-3136-6CC6AACFD9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29D8A9DB-A63D-1E43-964A-FEA6F241DBC6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CF2DD6C4-ECD4-2FD2-37DC-F5CEFA45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1F88ADF-3301-4598-B089-C6A4CC92BE83}" type="slidenum">
              <a:rPr lang="hu-HU" smtClean="0"/>
              <a:pPr>
                <a:spcAft>
                  <a:spcPts val="600"/>
                </a:spcAft>
              </a:pPr>
              <a:t>21</a:t>
            </a:fld>
            <a:r>
              <a:rPr lang="hu-HU" dirty="0"/>
              <a:t>/23</a:t>
            </a:r>
          </a:p>
        </p:txBody>
      </p:sp>
    </p:spTree>
    <p:extLst>
      <p:ext uri="{BB962C8B-B14F-4D97-AF65-F5344CB8AC3E}">
        <p14:creationId xmlns:p14="http://schemas.microsoft.com/office/powerpoint/2010/main" val="1127999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E78EBFF-0782-426B-7342-7ACB16E73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Köszönöm szépen a figyelmet!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C8017B1-9776-4AA6-DBFE-8A90DA99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F2E5E6D-BD8D-265F-A6D0-BE50AF6D6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algn="l" defTabSz="914400" rtl="0" eaLnBrk="1" latinLnBrk="0" hangingPunct="1">
              <a:spcAft>
                <a:spcPts val="600"/>
              </a:spcAft>
            </a:pPr>
            <a:endParaRPr lang="en-US" dirty="0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8" name="Tartalom helye 8" descr="A képen képernyőkép, diagram, sor látható&#10;&#10;Automatikusan generált leírás">
            <a:extLst>
              <a:ext uri="{FF2B5EF4-FFF2-40B4-BE49-F238E27FC236}">
                <a16:creationId xmlns:a16="http://schemas.microsoft.com/office/drawing/2014/main" id="{EDFB7719-4604-56A1-6B5F-091C2C037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9" y="2025741"/>
            <a:ext cx="10231623" cy="4473488"/>
          </a:xfrm>
        </p:spPr>
      </p:pic>
    </p:spTree>
    <p:extLst>
      <p:ext uri="{BB962C8B-B14F-4D97-AF65-F5344CB8AC3E}">
        <p14:creationId xmlns:p14="http://schemas.microsoft.com/office/powerpoint/2010/main" val="804912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C614176-4EBA-9C4A-5FDA-3CBC1D773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Kérdés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3A1FAD-606A-5828-938D-73C321CF9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„A dolgozatban a </a:t>
            </a:r>
            <a:r>
              <a:rPr lang="hu-HU" dirty="0" err="1"/>
              <a:t>retrieval</a:t>
            </a:r>
            <a:r>
              <a:rPr lang="hu-HU" dirty="0"/>
              <a:t> során alkalmazott 0,6-os hasonlósági küszöbérték a </a:t>
            </a:r>
            <a:r>
              <a:rPr lang="hu-HU" dirty="0" err="1"/>
              <a:t>chunkolási</a:t>
            </a:r>
            <a:r>
              <a:rPr lang="hu-HU" dirty="0"/>
              <a:t> eljárásból származik. Milyen hatással lenne a rendszer teljesítményére ennek a paraméternek a változtatása?”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A rendszer pontossága függ a paraméter megválasztásától.</a:t>
            </a:r>
          </a:p>
          <a:p>
            <a:r>
              <a:rPr lang="hu-HU" dirty="0"/>
              <a:t>Paraméter növelése: Növekvő hamis negatív arány</a:t>
            </a:r>
          </a:p>
          <a:p>
            <a:r>
              <a:rPr lang="hu-HU" dirty="0"/>
              <a:t>Paraméter csökkentése: Több zaj és hamis pozitív</a:t>
            </a:r>
          </a:p>
          <a:p>
            <a:pPr marL="0" indent="0">
              <a:buNone/>
            </a:pPr>
            <a:endParaRPr lang="hu-HU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8EB153C-BED5-14B3-D9E5-D1C2AC784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C1B7534-0033-B93B-0AB6-CDF503296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138125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91160E-3CFC-51F4-0D64-B37431A4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Kérdés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0895B76-EC99-4CD9-78E8-9824BC16C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15FFE7B-BCCA-F723-ACE8-474D143BF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u-HU" dirty="0"/>
          </a:p>
        </p:txBody>
      </p:sp>
      <p:pic>
        <p:nvPicPr>
          <p:cNvPr id="27" name="Kép 26" descr="A képen szöveg, sor, Diagram, Betűtípus látható&#10;&#10;Automatikusan generált leírás">
            <a:extLst>
              <a:ext uri="{FF2B5EF4-FFF2-40B4-BE49-F238E27FC236}">
                <a16:creationId xmlns:a16="http://schemas.microsoft.com/office/drawing/2014/main" id="{EFF63355-4441-C47C-C10A-AE24B3BE76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14" y="1374388"/>
            <a:ext cx="12012385" cy="546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175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2CC6560-EBDE-281E-540B-F2359973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2. Kérdés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EF847F5-DC62-8074-5FE4-7C47CB17B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017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dirty="0"/>
              <a:t>„Milyen területeken jelenthet előnyt a kidolgozott Online </a:t>
            </a:r>
            <a:r>
              <a:rPr lang="hu-HU" dirty="0" err="1"/>
              <a:t>KMeans</a:t>
            </a:r>
            <a:r>
              <a:rPr lang="hu-HU" dirty="0"/>
              <a:t> algoritmus, illetve alkalmazás során milyen </a:t>
            </a:r>
            <a:r>
              <a:rPr lang="hu-HU" dirty="0" err="1"/>
              <a:t>limitációkat</a:t>
            </a:r>
            <a:r>
              <a:rPr lang="hu-HU" dirty="0"/>
              <a:t> érdemes szem előtt tartani?”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Előnyök:</a:t>
            </a:r>
          </a:p>
          <a:p>
            <a:r>
              <a:rPr lang="hu-HU" dirty="0"/>
              <a:t>dinamikusan változó adathalmazok (pl.: valós idejű hírfolyam)</a:t>
            </a:r>
          </a:p>
          <a:p>
            <a:r>
              <a:rPr lang="hu-HU" dirty="0"/>
              <a:t>Adaptív struktúra (ha az adatok eloszlása időben változik)</a:t>
            </a:r>
          </a:p>
          <a:p>
            <a:pPr marL="0" indent="0">
              <a:buNone/>
            </a:pPr>
            <a:r>
              <a:rPr lang="hu-HU" dirty="0" err="1"/>
              <a:t>Limitációk</a:t>
            </a:r>
            <a:r>
              <a:rPr lang="hu-HU" dirty="0"/>
              <a:t>:</a:t>
            </a:r>
          </a:p>
          <a:p>
            <a:r>
              <a:rPr lang="hu-HU" dirty="0"/>
              <a:t>Sorrendfüggőség: érzékeny az adatok sorrendjére</a:t>
            </a:r>
          </a:p>
          <a:p>
            <a:r>
              <a:rPr lang="hu-HU" dirty="0"/>
              <a:t>Paraméterérzékenység: „</a:t>
            </a:r>
            <a:r>
              <a:rPr lang="hu-HU" dirty="0" err="1"/>
              <a:t>new_cluster_threshold</a:t>
            </a:r>
            <a:r>
              <a:rPr lang="hu-HU" dirty="0"/>
              <a:t>”, „</a:t>
            </a:r>
            <a:r>
              <a:rPr lang="hu-HU" dirty="0" err="1"/>
              <a:t>merge_threshold</a:t>
            </a:r>
            <a:r>
              <a:rPr lang="hu-HU" dirty="0"/>
              <a:t>” helyes beállítása fontos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39613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2242FBB-2962-2D0C-F440-AE52FF32F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Forrásjegyzék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48F6325-171C-9526-86E2-566A20E5E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1800" dirty="0"/>
              <a:t>[1] </a:t>
            </a:r>
            <a:r>
              <a:rPr lang="hu-HU" sz="1800" dirty="0" err="1"/>
              <a:t>Hariom</a:t>
            </a:r>
            <a:r>
              <a:rPr lang="hu-HU" sz="1800" dirty="0"/>
              <a:t> </a:t>
            </a:r>
            <a:r>
              <a:rPr lang="hu-HU" sz="1800" dirty="0" err="1"/>
              <a:t>Gautam</a:t>
            </a:r>
            <a:r>
              <a:rPr lang="hu-HU" sz="1800" dirty="0"/>
              <a:t>, (2020.03.01.), Word </a:t>
            </a:r>
            <a:r>
              <a:rPr lang="hu-HU" sz="1800" dirty="0" err="1"/>
              <a:t>Embedding</a:t>
            </a:r>
            <a:r>
              <a:rPr lang="hu-HU" sz="1800" dirty="0"/>
              <a:t>: </a:t>
            </a:r>
            <a:r>
              <a:rPr lang="hu-HU" sz="1800" dirty="0" err="1"/>
              <a:t>Basics</a:t>
            </a:r>
            <a:r>
              <a:rPr lang="hu-HU" sz="1800" dirty="0"/>
              <a:t>, </a:t>
            </a:r>
            <a:r>
              <a:rPr lang="hu-HU" sz="1800" dirty="0" err="1"/>
              <a:t>Medium</a:t>
            </a:r>
            <a:r>
              <a:rPr lang="hu-HU" sz="1800" dirty="0"/>
              <a:t>, </a:t>
            </a:r>
            <a:r>
              <a:rPr lang="hu-HU" sz="1800" dirty="0">
                <a:hlinkClick r:id="rId3"/>
              </a:rPr>
              <a:t>https://medium.com/@hari4om/word-embedding-d816f643140</a:t>
            </a:r>
            <a:endParaRPr lang="hu-HU" sz="1800" dirty="0"/>
          </a:p>
          <a:p>
            <a:r>
              <a:rPr lang="hu-HU" sz="1800" dirty="0"/>
              <a:t>[2] </a:t>
            </a:r>
            <a:r>
              <a:rPr lang="hu-HU" sz="1800" dirty="0" err="1"/>
              <a:t>Varun</a:t>
            </a:r>
            <a:r>
              <a:rPr lang="hu-HU" sz="1800" dirty="0"/>
              <a:t>, (2020.09.27.), </a:t>
            </a:r>
            <a:r>
              <a:rPr lang="hu-HU" sz="1800" dirty="0" err="1"/>
              <a:t>Cosine</a:t>
            </a:r>
            <a:r>
              <a:rPr lang="hu-HU" sz="1800" dirty="0"/>
              <a:t> </a:t>
            </a:r>
            <a:r>
              <a:rPr lang="hu-HU" sz="1800" dirty="0" err="1"/>
              <a:t>similarity</a:t>
            </a:r>
            <a:r>
              <a:rPr lang="hu-HU" sz="1800" dirty="0"/>
              <a:t>: </a:t>
            </a:r>
            <a:r>
              <a:rPr lang="hu-HU" sz="1800" dirty="0" err="1"/>
              <a:t>How</a:t>
            </a:r>
            <a:r>
              <a:rPr lang="hu-HU" sz="1800" dirty="0"/>
              <a:t> </a:t>
            </a:r>
            <a:r>
              <a:rPr lang="hu-HU" sz="1800" dirty="0" err="1"/>
              <a:t>does</a:t>
            </a:r>
            <a:r>
              <a:rPr lang="hu-HU" sz="1800" dirty="0"/>
              <a:t> </a:t>
            </a:r>
            <a:r>
              <a:rPr lang="hu-HU" sz="1800" dirty="0" err="1"/>
              <a:t>it</a:t>
            </a:r>
            <a:r>
              <a:rPr lang="hu-HU" sz="1800" dirty="0"/>
              <a:t> </a:t>
            </a:r>
            <a:r>
              <a:rPr lang="hu-HU" sz="1800" dirty="0" err="1"/>
              <a:t>measure</a:t>
            </a:r>
            <a:r>
              <a:rPr lang="hu-HU" sz="1800" dirty="0"/>
              <a:t> </a:t>
            </a:r>
            <a:r>
              <a:rPr lang="hu-HU" sz="1800" dirty="0" err="1"/>
              <a:t>the</a:t>
            </a:r>
            <a:r>
              <a:rPr lang="hu-HU" sz="1800" dirty="0"/>
              <a:t> </a:t>
            </a:r>
            <a:r>
              <a:rPr lang="hu-HU" sz="1800" dirty="0" err="1"/>
              <a:t>similarity</a:t>
            </a:r>
            <a:r>
              <a:rPr lang="hu-HU" sz="1800" dirty="0"/>
              <a:t>, </a:t>
            </a:r>
            <a:r>
              <a:rPr lang="hu-HU" sz="1800" dirty="0" err="1"/>
              <a:t>Maths</a:t>
            </a:r>
            <a:r>
              <a:rPr lang="hu-HU" sz="1800" dirty="0"/>
              <a:t> </a:t>
            </a:r>
            <a:r>
              <a:rPr lang="hu-HU" sz="1800" dirty="0" err="1"/>
              <a:t>behind</a:t>
            </a:r>
            <a:r>
              <a:rPr lang="hu-HU" sz="1800" dirty="0"/>
              <a:t> and </a:t>
            </a:r>
            <a:r>
              <a:rPr lang="hu-HU" sz="1800" dirty="0" err="1"/>
              <a:t>usage</a:t>
            </a:r>
            <a:r>
              <a:rPr lang="hu-HU" sz="1800" dirty="0"/>
              <a:t> in Python, towardsdatascience.com ,</a:t>
            </a:r>
            <a:r>
              <a:rPr lang="hu-HU" sz="1800" dirty="0">
                <a:hlinkClick r:id="rId4"/>
              </a:rPr>
              <a:t>https://towardsdatascience.com/cosine-similarity-how-does-it-measure-the-similarity-maths-behind-and-usage-in-python-50ad30aad7db/</a:t>
            </a:r>
            <a:endParaRPr lang="hu-HU" sz="1800" dirty="0"/>
          </a:p>
          <a:p>
            <a:r>
              <a:rPr lang="hu-HU" sz="1800" dirty="0"/>
              <a:t>[3]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Pranav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Rajpurkar</a:t>
            </a:r>
            <a:r>
              <a:rPr lang="hu-HU" sz="1800" dirty="0">
                <a:solidFill>
                  <a:srgbClr val="000000"/>
                </a:solidFill>
                <a:effectLst/>
              </a:rPr>
              <a:t>,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Jian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Zhang</a:t>
            </a:r>
            <a:r>
              <a:rPr lang="hu-HU" sz="1800" dirty="0">
                <a:solidFill>
                  <a:srgbClr val="000000"/>
                </a:solidFill>
                <a:effectLst/>
              </a:rPr>
              <a:t>, </a:t>
            </a:r>
            <a:r>
              <a:rPr lang="hu-HU" sz="1800" dirty="0">
                <a:effectLst/>
              </a:rPr>
              <a:t>Konstantin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Lopyrev</a:t>
            </a:r>
            <a:r>
              <a:rPr lang="hu-HU" sz="1800" dirty="0">
                <a:solidFill>
                  <a:srgbClr val="000000"/>
                </a:solidFill>
                <a:effectLst/>
              </a:rPr>
              <a:t>, Percy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Liang</a:t>
            </a:r>
            <a:r>
              <a:rPr lang="hu-HU" sz="1800" dirty="0">
                <a:solidFill>
                  <a:srgbClr val="000000"/>
                </a:solidFill>
                <a:effectLst/>
              </a:rPr>
              <a:t>, (2016.06.16.),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SQuAD</a:t>
            </a:r>
            <a:r>
              <a:rPr lang="hu-HU" sz="1800" dirty="0">
                <a:solidFill>
                  <a:srgbClr val="000000"/>
                </a:solidFill>
                <a:effectLst/>
              </a:rPr>
              <a:t>:</a:t>
            </a:r>
          </a:p>
          <a:p>
            <a:r>
              <a:rPr lang="hu-HU" sz="1800" dirty="0">
                <a:solidFill>
                  <a:srgbClr val="000000"/>
                </a:solidFill>
                <a:effectLst/>
              </a:rPr>
              <a:t>100,000+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Questions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for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Machine</a:t>
            </a:r>
            <a:r>
              <a:rPr lang="hu-HU" sz="1800" dirty="0">
                <a:solidFill>
                  <a:srgbClr val="000000"/>
                </a:solidFill>
                <a:effectLst/>
              </a:rPr>
              <a:t>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Comprehension</a:t>
            </a:r>
            <a:r>
              <a:rPr lang="hu-HU" sz="1800" dirty="0">
                <a:solidFill>
                  <a:srgbClr val="000000"/>
                </a:solidFill>
                <a:effectLst/>
              </a:rPr>
              <a:t> of Text, </a:t>
            </a:r>
            <a:r>
              <a:rPr lang="hu-HU" sz="1800" dirty="0" err="1">
                <a:solidFill>
                  <a:srgbClr val="000000"/>
                </a:solidFill>
                <a:effectLst/>
              </a:rPr>
              <a:t>ArXiv</a:t>
            </a:r>
            <a:r>
              <a:rPr lang="hu-HU" sz="1800" dirty="0">
                <a:solidFill>
                  <a:srgbClr val="000000"/>
                </a:solidFill>
                <a:effectLst/>
              </a:rPr>
              <a:t>, </a:t>
            </a:r>
            <a:r>
              <a:rPr lang="hu-HU" sz="1800" b="0" i="0" u="sng" dirty="0">
                <a:effectLst/>
                <a:hlinkClick r:id="rId5"/>
              </a:rPr>
              <a:t>https://doi.org/10.48550/arXiv.1606.05250</a:t>
            </a:r>
            <a:endParaRPr lang="hu-HU" sz="1800" dirty="0"/>
          </a:p>
          <a:p>
            <a:endParaRPr lang="hu-HU" sz="2000" dirty="0"/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3AFDC56-C173-DBE4-4AB5-B1829C2CB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8737DFA-5AEE-8E85-0BBC-53632C2E9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150964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6CACD5-0839-746C-3C67-C1AA05B09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1C0FAF-2F53-46D2-66F4-BE60BB0ED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Delete</a:t>
            </a:r>
            <a:r>
              <a:rPr lang="hu-HU" dirty="0"/>
              <a:t> </a:t>
            </a:r>
            <a:r>
              <a:rPr lang="hu-HU" dirty="0" err="1"/>
              <a:t>from</a:t>
            </a:r>
            <a:r>
              <a:rPr lang="hu-HU" dirty="0"/>
              <a:t> here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B92409B-7AA0-55D4-B20E-3BD396DAF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979DB-241A-8544-95D6-5A5515E861C2}" type="datetime1">
              <a:rPr lang="hu-HU" smtClean="0"/>
              <a:t>2026. 01. 05.</a:t>
            </a:fld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E12DECB5-6B54-654D-A65F-8A9605FB3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88ADF-3301-4598-B089-C6A4CC92BE83}" type="slidenum">
              <a:rPr lang="hu-HU" smtClean="0"/>
              <a:t>27</a:t>
            </a:fld>
            <a:endParaRPr lang="hu-HU"/>
          </a:p>
        </p:txBody>
      </p:sp>
      <p:sp>
        <p:nvSpPr>
          <p:cNvPr id="8" name="Lefelé mutató nyíl 7">
            <a:extLst>
              <a:ext uri="{FF2B5EF4-FFF2-40B4-BE49-F238E27FC236}">
                <a16:creationId xmlns:a16="http://schemas.microsoft.com/office/drawing/2014/main" id="{D76F25A7-11C4-AC6F-3159-0D6BCC22CEE2}"/>
              </a:ext>
            </a:extLst>
          </p:cNvPr>
          <p:cNvSpPr/>
          <p:nvPr/>
        </p:nvSpPr>
        <p:spPr>
          <a:xfrm>
            <a:off x="2612571" y="2841171"/>
            <a:ext cx="1877786" cy="26778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6380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C2D948-E810-3B60-6951-A5D022A78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Bíráló – 2/3 kérdés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F04CF62-587D-AB1F-2779-C1194997B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724136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A kísérleteit viszonylag egy adott beágyazási modell és adathalmaz esetére végezte el - mit gondol mennyire általánosak a kapott eredmények, van-e esetleg okunk azt gondolni, hogy más beágyazás vagy adathalmaz esetén is hasonló eredményeket kapnánk?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Válasz:</a:t>
            </a:r>
          </a:p>
          <a:p>
            <a:pPr marL="0" indent="0">
              <a:buNone/>
            </a:pPr>
            <a:r>
              <a:rPr lang="hu-HU" dirty="0"/>
              <a:t>A </a:t>
            </a:r>
            <a:r>
              <a:rPr lang="hu-HU" dirty="0" err="1"/>
              <a:t>SQuAD</a:t>
            </a:r>
            <a:r>
              <a:rPr lang="hu-HU" dirty="0"/>
              <a:t> egy QA típusú adathalmaz, amelyhez az </a:t>
            </a:r>
            <a:r>
              <a:rPr lang="hu-HU" dirty="0" err="1"/>
              <a:t>all-MiniLM</a:t>
            </a:r>
            <a:r>
              <a:rPr lang="hu-HU" dirty="0"/>
              <a:t> jól passzol, mert mondatpárok összehasonlítására is </a:t>
            </a:r>
            <a:r>
              <a:rPr lang="hu-HU" dirty="0" err="1"/>
              <a:t>finomhangolva</a:t>
            </a:r>
            <a:r>
              <a:rPr lang="hu-HU" dirty="0"/>
              <a:t> lett. Azonban a </a:t>
            </a:r>
            <a:r>
              <a:rPr lang="hu-HU" dirty="0" err="1"/>
              <a:t>Snowflake</a:t>
            </a:r>
            <a:r>
              <a:rPr lang="hu-HU" dirty="0"/>
              <a:t> modell által mutatott eredmények ugyanazokat a trendeket mutatják, mint az </a:t>
            </a:r>
            <a:r>
              <a:rPr lang="hu-HU" dirty="0" err="1"/>
              <a:t>all-MiniLM</a:t>
            </a:r>
            <a:r>
              <a:rPr lang="hu-HU" dirty="0"/>
              <a:t> esetén.</a:t>
            </a:r>
          </a:p>
          <a:p>
            <a:pPr marL="0" indent="0">
              <a:buNone/>
            </a:pPr>
            <a:r>
              <a:rPr lang="hu-HU" b="0" i="0" dirty="0">
                <a:solidFill>
                  <a:srgbClr val="222222"/>
                </a:solidFill>
                <a:effectLst/>
              </a:rPr>
              <a:t>Más típusú adathalmazok vizsgálata célszerű lehet, és hasonló</a:t>
            </a:r>
            <a:br>
              <a:rPr lang="hu-HU" dirty="0"/>
            </a:br>
            <a:r>
              <a:rPr lang="hu-HU" b="0" i="0" dirty="0">
                <a:solidFill>
                  <a:srgbClr val="222222"/>
                </a:solidFill>
                <a:effectLst/>
              </a:rPr>
              <a:t>eredményekre számítok.</a:t>
            </a:r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D5B467D2-401F-D6C0-10A7-A4565B8AE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926159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7422EA-7398-724E-82EE-D82CC4D20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Bíráló – 2/3 kérdés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DB71D7F-EB65-674D-645A-C74E58574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8B51A08-F296-A854-BF05-4325B0486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u-HU" dirty="0"/>
          </a:p>
        </p:txBody>
      </p:sp>
      <p:pic>
        <p:nvPicPr>
          <p:cNvPr id="9" name="Tartalom helye 8" descr="A képen szöveg, képernyőkép, sor, Diagram látható&#10;&#10;Automatikusan generált leírás">
            <a:extLst>
              <a:ext uri="{FF2B5EF4-FFF2-40B4-BE49-F238E27FC236}">
                <a16:creationId xmlns:a16="http://schemas.microsoft.com/office/drawing/2014/main" id="{D1FE94C6-D4AA-2214-268F-E5E6F172B0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360" y="1546750"/>
            <a:ext cx="8657280" cy="4809600"/>
          </a:xfrm>
        </p:spPr>
      </p:pic>
      <p:pic>
        <p:nvPicPr>
          <p:cNvPr id="11" name="Kép 10" descr="A képen szöveg, sor, Diagram, diagram látható&#10;&#10;Automatikusan generált leírás">
            <a:extLst>
              <a:ext uri="{FF2B5EF4-FFF2-40B4-BE49-F238E27FC236}">
                <a16:creationId xmlns:a16="http://schemas.microsoft.com/office/drawing/2014/main" id="{41B1D2EF-D019-C62C-250E-CAC3C6AAF8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7360" y="1546750"/>
            <a:ext cx="8657280" cy="48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84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FFD2839-A558-CE58-D988-2A70BB3D8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Bíráló – 3/3 kérdés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1CBE8E2-710D-D873-97C2-3629D7B4C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A kísérleteiben a javasolt </a:t>
            </a:r>
            <a:r>
              <a:rPr lang="hu-HU" dirty="0" err="1"/>
              <a:t>klaszterezés</a:t>
            </a:r>
            <a:r>
              <a:rPr lang="hu-HU" dirty="0"/>
              <a:t>-alapú módszerek a minőség rovására javítanak a hatékonyságon a szokásos kereséshez képest. Tudja-e esetleg konkretizálni, hogy milyen alkalmazások, vagy szcenáriók esetén érné meg inkább a </a:t>
            </a:r>
            <a:r>
              <a:rPr lang="hu-HU" dirty="0" err="1"/>
              <a:t>klaszterezést</a:t>
            </a:r>
            <a:r>
              <a:rPr lang="hu-HU" dirty="0"/>
              <a:t> használni a bevett módszerekkel szemben?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Válasz:</a:t>
            </a:r>
          </a:p>
          <a:p>
            <a:pPr marL="0" indent="0">
              <a:buNone/>
            </a:pPr>
            <a:r>
              <a:rPr lang="hu-HU" dirty="0"/>
              <a:t>Olyan dinamikusan változó tudásbázisok esetén, ahol az új információk témája előre nem látható módon és gyorsan változik, a rendszernek pedig valós időben kell integrálni az új adatokat.</a:t>
            </a:r>
          </a:p>
          <a:p>
            <a:r>
              <a:rPr lang="hu-HU" dirty="0"/>
              <a:t>Valós idejű híráram és közösségi média</a:t>
            </a:r>
          </a:p>
          <a:p>
            <a:r>
              <a:rPr lang="hu-HU" dirty="0"/>
              <a:t>Élő ügyfélszolgálat chatbot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2380C67-3C45-D763-3973-7ED6B3540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41420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3D404A-3302-6578-2D67-2C24E0F7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2. Bíráló – 1/3 kérdés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420C507-EB27-3FCF-ED99-D04A0F081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 fontScale="92500" lnSpcReduction="10000"/>
          </a:bodyPr>
          <a:lstStyle/>
          <a:p>
            <a:r>
              <a:rPr lang="hu-HU" dirty="0"/>
              <a:t>Hogyan kapcsolódik a bevezetett klaszter alapú, két lépcsős dokumentum keresés a FAISS könyvtárba tartozó IVF indexelési módszerhez?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Válasz:</a:t>
            </a:r>
          </a:p>
          <a:p>
            <a:pPr marL="0" indent="0">
              <a:buNone/>
            </a:pPr>
            <a:r>
              <a:rPr lang="hu-HU" dirty="0"/>
              <a:t>A kutatásom célja a dinamikus, streaming környezetek hatékony kezelése volt. FAISS IVF </a:t>
            </a:r>
            <a:r>
              <a:rPr lang="hu-HU" dirty="0" err="1"/>
              <a:t>KMeans</a:t>
            </a:r>
            <a:r>
              <a:rPr lang="hu-HU" dirty="0"/>
              <a:t> </a:t>
            </a:r>
            <a:r>
              <a:rPr lang="hu-HU" dirty="0" err="1"/>
              <a:t>klaszterezésen</a:t>
            </a:r>
            <a:r>
              <a:rPr lang="hu-HU" dirty="0"/>
              <a:t> alapszik, koncepcionálisan hasonlít az én módszeremre, de nem képes új klasztereket létrehozni, és meglévőket módosítani. Azért a HNSW alapú FAISS indexet választottam kiértékeléskor, mert képes gyorsan integrálni új adatokat, miközben a gráf struktúráját is változtatja. Az IVF-ben új pontok ugyan hozzáadhatók, de a klaszterstruktúra csak </a:t>
            </a:r>
            <a:r>
              <a:rPr lang="hu-HU" dirty="0" err="1"/>
              <a:t>újratanítással</a:t>
            </a:r>
            <a:r>
              <a:rPr lang="hu-HU" dirty="0"/>
              <a:t> frissíthető, </a:t>
            </a:r>
            <a:r>
              <a:rPr lang="hu-HU" dirty="0" err="1"/>
              <a:t>centroidjai</a:t>
            </a:r>
            <a:r>
              <a:rPr lang="hu-HU" dirty="0"/>
              <a:t> statikusak.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6C9FEC2-180B-7E5C-D40A-C4B2BEC1B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4F5D90A3-581C-D439-01FA-2812B87D9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189435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A6FD8F-0EC8-FA24-9871-53A30DCF9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2. Bíráló – 2/3 kérdés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39949F5-1AC9-199E-3E98-BD1808EDE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158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hu-HU" dirty="0"/>
              <a:t>Az Online </a:t>
            </a:r>
            <a:r>
              <a:rPr lang="hu-HU" dirty="0" err="1"/>
              <a:t>KMeans</a:t>
            </a:r>
            <a:r>
              <a:rPr lang="hu-HU" dirty="0"/>
              <a:t> algoritmus küszöbértékeket tartalmaz a klaszterek összevonására és új klaszter bevezetésére. Milyen módszerrel lettek ezek az értékek kiválasztva, és milyen hatása van a túl alacsony vagy túl magas értéknek a rendszer stabilitására?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Válasz:</a:t>
            </a:r>
          </a:p>
          <a:p>
            <a:r>
              <a:rPr lang="hu-HU" dirty="0"/>
              <a:t>A küszöbértékeket az adathalmaz elemzése alapján választottam meg, és az adott környezethez kell hangolni őket.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/>
              <a:t>Összevonási küszöbérték:</a:t>
            </a:r>
            <a:br>
              <a:rPr lang="hu-HU" dirty="0"/>
            </a:br>
            <a:r>
              <a:rPr lang="hu-HU" dirty="0"/>
              <a:t>Túl alacsony értéknél nem vonódnak össze a klaszterek, túl magasnál szinte mind összeolvad.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/>
              <a:t>Új klaszter küszöbérték:</a:t>
            </a:r>
            <a:br>
              <a:rPr lang="hu-HU" dirty="0"/>
            </a:br>
            <a:r>
              <a:rPr lang="hu-HU" dirty="0"/>
              <a:t>Túl magas értéknél nem keletkeznek új klaszterek, túl alacsonynál túl sok jön létre.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7213920-9C0B-904B-7D21-4B7673C74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866DA96-D6F4-97A7-6DB9-E4B1BE20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628095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BAD43B-D426-7CBC-3AE6-E58FABDB8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2. Bíráló – 3/3 kérdés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3D280D0-76BB-3A65-EB32-5B0854E10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Az Online </a:t>
            </a:r>
            <a:r>
              <a:rPr lang="hu-HU" dirty="0" err="1"/>
              <a:t>KMeans</a:t>
            </a:r>
            <a:r>
              <a:rPr lang="hu-HU" dirty="0"/>
              <a:t> algoritmus leírásában nem szerepel a klaszterösszevonási iteráció. Ez hogyan módosítaná az 1. táblázatban lévő időkomplexitási becslést?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/>
              <a:t>Válasz: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Távolságok számítása: </a:t>
            </a:r>
            <a:r>
              <a:rPr lang="hu-HU" dirty="0" err="1"/>
              <a:t>O</a:t>
            </a:r>
            <a:r>
              <a:rPr lang="hu-HU" dirty="0"/>
              <a:t>(</a:t>
            </a:r>
            <a:r>
              <a:rPr lang="hu-HU" dirty="0" err="1"/>
              <a:t>n⋅k⋅d</a:t>
            </a:r>
            <a:r>
              <a:rPr lang="hu-HU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Min távolságok kiválasztása: </a:t>
            </a:r>
            <a:r>
              <a:rPr lang="hu-HU" dirty="0" err="1"/>
              <a:t>O</a:t>
            </a:r>
            <a:r>
              <a:rPr lang="hu-HU" dirty="0"/>
              <a:t>(</a:t>
            </a:r>
            <a:r>
              <a:rPr lang="hu-HU" dirty="0" err="1"/>
              <a:t>n⋅k</a:t>
            </a:r>
            <a:r>
              <a:rPr lang="hu-HU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Új klaszterek létrehozása: </a:t>
            </a:r>
            <a:r>
              <a:rPr lang="hu-HU" dirty="0" err="1"/>
              <a:t>O</a:t>
            </a:r>
            <a:r>
              <a:rPr lang="hu-HU" dirty="0"/>
              <a:t>(</a:t>
            </a:r>
            <a:r>
              <a:rPr lang="hu-HU" dirty="0" err="1"/>
              <a:t>k⋅d</a:t>
            </a:r>
            <a:r>
              <a:rPr lang="hu-HU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 err="1"/>
              <a:t>Centroid</a:t>
            </a:r>
            <a:r>
              <a:rPr lang="hu-HU" dirty="0"/>
              <a:t> frissítés: </a:t>
            </a:r>
            <a:r>
              <a:rPr lang="hu-HU" dirty="0" err="1"/>
              <a:t>O</a:t>
            </a:r>
            <a:r>
              <a:rPr lang="hu-HU" dirty="0"/>
              <a:t>(</a:t>
            </a:r>
            <a:r>
              <a:rPr lang="hu-HU" dirty="0" err="1"/>
              <a:t>n⋅d</a:t>
            </a:r>
            <a:r>
              <a:rPr lang="hu-HU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hu-HU" dirty="0"/>
              <a:t>Klaszterek összevonása: </a:t>
            </a:r>
            <a:r>
              <a:rPr lang="hu-HU" dirty="0" err="1"/>
              <a:t>O</a:t>
            </a:r>
            <a:r>
              <a:rPr lang="hu-HU" dirty="0"/>
              <a:t>(k</a:t>
            </a:r>
            <a:r>
              <a:rPr lang="hu-HU" baseline="30000" dirty="0"/>
              <a:t>2</a:t>
            </a:r>
            <a:r>
              <a:rPr lang="hu-HU" dirty="0"/>
              <a:t>⋅d)</a:t>
            </a:r>
          </a:p>
        </p:txBody>
      </p:sp>
      <p:sp>
        <p:nvSpPr>
          <p:cNvPr id="6" name="Jobb oldali szögletes zárójel 5">
            <a:extLst>
              <a:ext uri="{FF2B5EF4-FFF2-40B4-BE49-F238E27FC236}">
                <a16:creationId xmlns:a16="http://schemas.microsoft.com/office/drawing/2014/main" id="{0111E78A-2683-DBB9-9E94-68F904F35B99}"/>
              </a:ext>
            </a:extLst>
          </p:cNvPr>
          <p:cNvSpPr/>
          <p:nvPr/>
        </p:nvSpPr>
        <p:spPr>
          <a:xfrm>
            <a:off x="6282267" y="3802856"/>
            <a:ext cx="677333" cy="1642534"/>
          </a:xfrm>
          <a:prstGeom prst="rightBracket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8BB2EFC9-130C-6FF5-2D1E-5D2A892FAC5C}"/>
              </a:ext>
            </a:extLst>
          </p:cNvPr>
          <p:cNvCxnSpPr>
            <a:cxnSpLocks/>
          </p:cNvCxnSpPr>
          <p:nvPr/>
        </p:nvCxnSpPr>
        <p:spPr>
          <a:xfrm flipV="1">
            <a:off x="6959600" y="4624122"/>
            <a:ext cx="457200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FAFBA148-CF94-6825-68AF-99F756B8E2C2}"/>
              </a:ext>
            </a:extLst>
          </p:cNvPr>
          <p:cNvCxnSpPr>
            <a:cxnSpLocks/>
          </p:cNvCxnSpPr>
          <p:nvPr/>
        </p:nvCxnSpPr>
        <p:spPr>
          <a:xfrm>
            <a:off x="6282267" y="5792523"/>
            <a:ext cx="224366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5EE71E48-DECC-1EA8-CD32-FB24377A3C23}"/>
              </a:ext>
            </a:extLst>
          </p:cNvPr>
          <p:cNvSpPr txBox="1"/>
          <p:nvPr/>
        </p:nvSpPr>
        <p:spPr>
          <a:xfrm>
            <a:off x="7416800" y="4377900"/>
            <a:ext cx="221826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 err="1"/>
              <a:t>O</a:t>
            </a:r>
            <a:r>
              <a:rPr lang="hu-HU" sz="2600" dirty="0"/>
              <a:t>(</a:t>
            </a:r>
            <a:r>
              <a:rPr lang="hu-HU" sz="2600" dirty="0" err="1"/>
              <a:t>n⋅k⋅d</a:t>
            </a:r>
            <a:r>
              <a:rPr lang="hu-HU" sz="2600" dirty="0"/>
              <a:t>)</a:t>
            </a:r>
          </a:p>
        </p:txBody>
      </p:sp>
      <p:sp>
        <p:nvSpPr>
          <p:cNvPr id="14" name="Jobb oldali szögletes zárójel 13">
            <a:extLst>
              <a:ext uri="{FF2B5EF4-FFF2-40B4-BE49-F238E27FC236}">
                <a16:creationId xmlns:a16="http://schemas.microsoft.com/office/drawing/2014/main" id="{FF3730C2-03F2-3F39-4113-247653C9466B}"/>
              </a:ext>
            </a:extLst>
          </p:cNvPr>
          <p:cNvSpPr/>
          <p:nvPr/>
        </p:nvSpPr>
        <p:spPr>
          <a:xfrm>
            <a:off x="8703735" y="4641054"/>
            <a:ext cx="385233" cy="1098101"/>
          </a:xfrm>
          <a:prstGeom prst="rightBracket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6B15900E-A6BD-C5EA-A3A1-C7A69C3E236C}"/>
              </a:ext>
            </a:extLst>
          </p:cNvPr>
          <p:cNvCxnSpPr>
            <a:cxnSpLocks/>
          </p:cNvCxnSpPr>
          <p:nvPr/>
        </p:nvCxnSpPr>
        <p:spPr>
          <a:xfrm>
            <a:off x="9088968" y="5190104"/>
            <a:ext cx="39793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7382F609-DC90-1DC6-FD7E-3F582CF5355F}"/>
              </a:ext>
            </a:extLst>
          </p:cNvPr>
          <p:cNvSpPr txBox="1"/>
          <p:nvPr/>
        </p:nvSpPr>
        <p:spPr>
          <a:xfrm>
            <a:off x="9486902" y="4953266"/>
            <a:ext cx="270509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O(</a:t>
            </a:r>
            <a:r>
              <a:rPr lang="hu-HU" sz="2600" dirty="0" err="1"/>
              <a:t>n⋅k⋅d</a:t>
            </a:r>
            <a:r>
              <a:rPr lang="hu-HU" sz="2600" dirty="0"/>
              <a:t>) + </a:t>
            </a:r>
            <a:r>
              <a:rPr lang="hu-HU" sz="2600" dirty="0" err="1"/>
              <a:t>O</a:t>
            </a:r>
            <a:r>
              <a:rPr lang="hu-HU" sz="2600" dirty="0"/>
              <a:t>(k</a:t>
            </a:r>
            <a:r>
              <a:rPr lang="hu-HU" sz="2600" baseline="30000" dirty="0"/>
              <a:t>2</a:t>
            </a:r>
            <a:r>
              <a:rPr lang="hu-HU" sz="2600" dirty="0"/>
              <a:t>⋅d) 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DB452A17-3FAB-DD31-DB70-FEABF5A2F72C}"/>
              </a:ext>
            </a:extLst>
          </p:cNvPr>
          <p:cNvSpPr txBox="1"/>
          <p:nvPr/>
        </p:nvSpPr>
        <p:spPr>
          <a:xfrm>
            <a:off x="8255000" y="5929592"/>
            <a:ext cx="3937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600" dirty="0"/>
              <a:t>Az időkomplexitás lényegében nem változna.</a:t>
            </a:r>
          </a:p>
          <a:p>
            <a:endParaRPr lang="hu-HU" dirty="0"/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B35AFD7F-E0D0-AC4F-A87D-69A3974529C8}"/>
              </a:ext>
            </a:extLst>
          </p:cNvPr>
          <p:cNvSpPr txBox="1"/>
          <p:nvPr/>
        </p:nvSpPr>
        <p:spPr>
          <a:xfrm>
            <a:off x="270934" y="5929592"/>
            <a:ext cx="502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/>
              <a:t>n</a:t>
            </a:r>
            <a:r>
              <a:rPr lang="hu-HU" dirty="0"/>
              <a:t>: batch elemszáma</a:t>
            </a:r>
          </a:p>
          <a:p>
            <a:r>
              <a:rPr lang="hu-HU" dirty="0"/>
              <a:t>k: klaszterszám</a:t>
            </a:r>
          </a:p>
          <a:p>
            <a:r>
              <a:rPr lang="hu-HU" dirty="0"/>
              <a:t>d: adatok dimenziója</a:t>
            </a:r>
          </a:p>
        </p:txBody>
      </p:sp>
    </p:spTree>
    <p:extLst>
      <p:ext uri="{BB962C8B-B14F-4D97-AF65-F5344CB8AC3E}">
        <p14:creationId xmlns:p14="http://schemas.microsoft.com/office/powerpoint/2010/main" val="3886749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2709</TotalTime>
  <Words>3333</Words>
  <Application>Microsoft Macintosh PowerPoint</Application>
  <PresentationFormat>Szélesvásznú</PresentationFormat>
  <Paragraphs>412</Paragraphs>
  <Slides>33</Slides>
  <Notes>30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Times New Roman</vt:lpstr>
      <vt:lpstr>Office-téma</vt:lpstr>
      <vt:lpstr>Klaszterezési technikák alkalmazása az embedding-alapú visszakeresés hatékonyságának növelésére RAG környezetben</vt:lpstr>
      <vt:lpstr>Retrieval Augmented Generation</vt:lpstr>
      <vt:lpstr>Kutatásom célja</vt:lpstr>
      <vt:lpstr>Adat előfeldolgozás</vt:lpstr>
      <vt:lpstr>Szövegbeágyazás</vt:lpstr>
      <vt:lpstr>Hasonlóságmérési technikák</vt:lpstr>
      <vt:lpstr>Klaszterezési módszerek a pipeline-ban</vt:lpstr>
      <vt:lpstr>Javasolt RAG-folyamat</vt:lpstr>
      <vt:lpstr>Dinamikusan változó dokumentumtér kezelése</vt:lpstr>
      <vt:lpstr>Az OnlineKMeans algoritmus pszeudokódja</vt:lpstr>
      <vt:lpstr>Futásidő a klaszterek számának függvényében</vt:lpstr>
      <vt:lpstr>Futásidő a klaszterek számának függvényében</vt:lpstr>
      <vt:lpstr>Klaszterezési algoritmusok pontossága</vt:lpstr>
      <vt:lpstr>Pontossági eredmények (ARI és NMI)</vt:lpstr>
      <vt:lpstr>A visszakeresési folyamat (retrieval pipeline) kiértékelése</vt:lpstr>
      <vt:lpstr>A visszakeresési folyamat (retrieval pipeline) kiértékelése</vt:lpstr>
      <vt:lpstr>Klaszterezést használó retrieval pipeline visszakeresési ideje</vt:lpstr>
      <vt:lpstr>Visszakeresés dinamikusan változó adathalmazon</vt:lpstr>
      <vt:lpstr>Accuracy és recall dinamikus adathalmazon</vt:lpstr>
      <vt:lpstr>Frissítési idők összehasonlítása dinamikus adathalmazon</vt:lpstr>
      <vt:lpstr>Összefoglalás és kitekintés</vt:lpstr>
      <vt:lpstr>Köszönöm szépen a figyelmet!</vt:lpstr>
      <vt:lpstr>1. Kérdés</vt:lpstr>
      <vt:lpstr>1. Kérdés</vt:lpstr>
      <vt:lpstr>2. Kérdés</vt:lpstr>
      <vt:lpstr>Forrásjegyzék</vt:lpstr>
      <vt:lpstr>PowerPoint-bemutató</vt:lpstr>
      <vt:lpstr>1. Bíráló – 2/3 kérdés </vt:lpstr>
      <vt:lpstr>1. Bíráló – 2/3 kérdés</vt:lpstr>
      <vt:lpstr>1. Bíráló – 3/3 kérdés</vt:lpstr>
      <vt:lpstr>2. Bíráló – 1/3 kérdés</vt:lpstr>
      <vt:lpstr>2. Bíráló – 2/3 kérdés </vt:lpstr>
      <vt:lpstr>2. Bíráló – 3/3 kérdés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FIXED-TERM Czotter Benedek (ME/ECO1-HU)</dc:creator>
  <cp:lastModifiedBy>Benedek Czotter</cp:lastModifiedBy>
  <cp:revision>512</cp:revision>
  <cp:lastPrinted>2025-11-09T09:32:58Z</cp:lastPrinted>
  <dcterms:created xsi:type="dcterms:W3CDTF">2025-10-16T06:59:48Z</dcterms:created>
  <dcterms:modified xsi:type="dcterms:W3CDTF">2026-01-05T19:17:59Z</dcterms:modified>
</cp:coreProperties>
</file>