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81" r:id="rId4"/>
    <p:sldId id="258" r:id="rId5"/>
    <p:sldId id="259" r:id="rId6"/>
    <p:sldId id="263" r:id="rId7"/>
    <p:sldId id="262" r:id="rId8"/>
    <p:sldId id="261" r:id="rId9"/>
    <p:sldId id="264" r:id="rId10"/>
    <p:sldId id="271" r:id="rId11"/>
    <p:sldId id="273" r:id="rId12"/>
    <p:sldId id="265" r:id="rId13"/>
    <p:sldId id="274" r:id="rId14"/>
    <p:sldId id="266" r:id="rId15"/>
    <p:sldId id="275" r:id="rId16"/>
    <p:sldId id="267" r:id="rId17"/>
    <p:sldId id="272" r:id="rId18"/>
    <p:sldId id="270" r:id="rId19"/>
    <p:sldId id="276" r:id="rId20"/>
    <p:sldId id="277" r:id="rId21"/>
    <p:sldId id="278" r:id="rId22"/>
    <p:sldId id="279" r:id="rId23"/>
    <p:sldId id="282" r:id="rId24"/>
    <p:sldId id="289" r:id="rId25"/>
    <p:sldId id="283" r:id="rId26"/>
    <p:sldId id="290" r:id="rId27"/>
    <p:sldId id="284" r:id="rId28"/>
    <p:sldId id="285" r:id="rId29"/>
    <p:sldId id="286" r:id="rId30"/>
    <p:sldId id="287" r:id="rId31"/>
    <p:sldId id="260" r:id="rId3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02" autoAdjust="0"/>
    <p:restoredTop sz="67590" autoAdjust="0"/>
  </p:normalViewPr>
  <p:slideViewPr>
    <p:cSldViewPr snapToGrid="0">
      <p:cViewPr varScale="1">
        <p:scale>
          <a:sx n="76" d="100"/>
          <a:sy n="76" d="100"/>
        </p:scale>
        <p:origin x="1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2025. 12. 28.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24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Klaszterezési</a:t>
            </a:r>
            <a:r>
              <a:rPr lang="hu-H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technikák alkalmazása az </a:t>
            </a:r>
            <a:r>
              <a:rPr lang="hu-HU" sz="24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embedding</a:t>
            </a:r>
            <a:r>
              <a:rPr lang="hu-H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-alapú visszakeresés hatékonyságának növelésére RAG környezetben</a:t>
            </a:r>
            <a:r>
              <a:rPr lang="hu-HU" sz="1600" dirty="0"/>
              <a:t>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Olyan </a:t>
            </a:r>
            <a:r>
              <a:rPr lang="hu-HU" dirty="0" err="1"/>
              <a:t>klaszterezés</a:t>
            </a:r>
            <a:r>
              <a:rPr lang="hu-HU" dirty="0"/>
              <a:t>-alapú </a:t>
            </a:r>
            <a:r>
              <a:rPr lang="hu-HU" dirty="0" err="1"/>
              <a:t>retrieval</a:t>
            </a:r>
            <a:r>
              <a:rPr lang="hu-HU" dirty="0"/>
              <a:t> megközelítés kidolgozása, amely gyors, hatékony és lehetővé teszi új dokumentumok zökkenőmentes integrálását a tudásbázisba.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6145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  <a:p>
            <a:endParaRPr lang="hu-HU" dirty="0"/>
          </a:p>
          <a:p>
            <a:r>
              <a:rPr lang="hu-HU" dirty="0"/>
              <a:t>Koszinusz </a:t>
            </a:r>
            <a:r>
              <a:rPr lang="hu-HU" dirty="0" err="1"/>
              <a:t>vs</a:t>
            </a:r>
            <a:r>
              <a:rPr lang="hu-HU" dirty="0"/>
              <a:t> euklideszi:</a:t>
            </a:r>
          </a:p>
          <a:p>
            <a:r>
              <a:rPr lang="hu-HU" dirty="0"/>
              <a:t>A koszinusz hasonlóság a vektorok iránya (szöge) alapján mér, míg az euklideszi távolság a köztük lévő tényleges távolságot nézi, de normalizált adatokon mindkettő ugyanazt a találati rangsort adja. A döntő különbség a számítási hatékonyság, mivel a koszinusz hasonlóság egy gyorsabb skaláris szorzattá egyszerűsödik, míg az euklideszi távolság számítása többletmunkát igényel. Ezenkívül a koszinusz hasonlóság (-1-től 1-ig terjedő skálája) gyakran intuitívabb és eltérő küszöbértékeket igényel, mint az euklideszi távolság (0-tól 2-ig terjedő skálája).</a:t>
            </a:r>
          </a:p>
          <a:p>
            <a:r>
              <a:rPr lang="hu-HU" dirty="0"/>
              <a:t>L2 normalizált vektorok esetén (hosszuk 1) a két metrika átváltható egymásba, tökéletesen ugyanazt az eredményt adják.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</a:t>
            </a:r>
            <a:r>
              <a:rPr lang="hu-HU" b="1" dirty="0"/>
              <a:t>súlyozott</a:t>
            </a:r>
            <a:r>
              <a:rPr lang="hu-HU" dirty="0"/>
              <a:t> </a:t>
            </a:r>
            <a:r>
              <a:rPr lang="hu-HU" b="1" dirty="0"/>
              <a:t>átlagolással</a:t>
            </a:r>
            <a:r>
              <a:rPr lang="hu-HU" dirty="0"/>
              <a:t>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megoldást nyújt 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r>
              <a:rPr lang="hu-HU" dirty="0"/>
              <a:t>Sikeresen megoldottam újonnan érkező dokumentumok gyors integrálását a tudásbázisba, hogy a </a:t>
            </a:r>
            <a:r>
              <a:rPr lang="hu-HU" dirty="0" err="1"/>
              <a:t>retrieval</a:t>
            </a:r>
            <a:r>
              <a:rPr lang="hu-HU" dirty="0"/>
              <a:t> pontossága ne romoljon le!!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6145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31356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All-MiniLM</a:t>
            </a:r>
            <a:r>
              <a:rPr lang="hu-HU" dirty="0"/>
              <a:t> modell </a:t>
            </a:r>
            <a:r>
              <a:rPr lang="hu-HU" b="0" dirty="0"/>
              <a:t>páros mondat-reprezentációra lett </a:t>
            </a:r>
            <a:r>
              <a:rPr lang="hu-HU" b="0" dirty="0" err="1"/>
              <a:t>finomhangolva</a:t>
            </a:r>
            <a:r>
              <a:rPr lang="hu-HU" b="0" dirty="0"/>
              <a:t> (QA-pár adatokat)</a:t>
            </a:r>
          </a:p>
          <a:p>
            <a:r>
              <a:rPr lang="hu-HU" b="0" dirty="0" err="1"/>
              <a:t>Snowflake</a:t>
            </a:r>
            <a:r>
              <a:rPr lang="hu-HU" b="0" dirty="0"/>
              <a:t> </a:t>
            </a:r>
            <a:r>
              <a:rPr lang="hu-HU" b="0" dirty="0" err="1"/>
              <a:t>arctic</a:t>
            </a:r>
            <a:r>
              <a:rPr lang="hu-HU" b="0" dirty="0"/>
              <a:t> </a:t>
            </a:r>
            <a:r>
              <a:rPr lang="hu-HU" b="0" dirty="0" err="1"/>
              <a:t>embed</a:t>
            </a:r>
            <a:r>
              <a:rPr lang="hu-HU" b="0" dirty="0"/>
              <a:t>: univerzális, </a:t>
            </a:r>
            <a:r>
              <a:rPr lang="hu-HU" b="0" dirty="0" err="1"/>
              <a:t>general</a:t>
            </a:r>
            <a:r>
              <a:rPr lang="hu-HU" b="0" dirty="0"/>
              <a:t> </a:t>
            </a:r>
            <a:r>
              <a:rPr lang="hu-HU" b="0" dirty="0" err="1"/>
              <a:t>purpose</a:t>
            </a:r>
            <a:r>
              <a:rPr lang="hu-HU" b="0" dirty="0"/>
              <a:t> </a:t>
            </a:r>
            <a:r>
              <a:rPr lang="hu-HU" b="0" dirty="0" err="1"/>
              <a:t>embedder</a:t>
            </a:r>
            <a:endParaRPr lang="hu-HU" b="0" dirty="0"/>
          </a:p>
          <a:p>
            <a:endParaRPr lang="hu-HU" dirty="0"/>
          </a:p>
          <a:p>
            <a:r>
              <a:rPr lang="hu-HU" dirty="0"/>
              <a:t>Azon volt a lényeg a </a:t>
            </a:r>
            <a:r>
              <a:rPr lang="hu-HU" dirty="0" err="1"/>
              <a:t>szempontomből</a:t>
            </a:r>
            <a:r>
              <a:rPr lang="hu-HU" dirty="0"/>
              <a:t>, hogy a dimenziószám legyen más. Nem elsősorban a pontosság növelés volt a cél, a trendek megismerése. Konzisztensen ugyanazokat az </a:t>
            </a:r>
            <a:r>
              <a:rPr lang="hu-HU" dirty="0" err="1"/>
              <a:t>embeddingeket</a:t>
            </a:r>
            <a:r>
              <a:rPr lang="hu-HU" dirty="0"/>
              <a:t> használtam, így az eredmények is konzisztensek és általánosíthatóak.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33317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1024 dimenziós vektorokra a kiértékelés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20966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IVF: rögzített klaszterszám, nincsenek új klaszterek</a:t>
            </a:r>
          </a:p>
          <a:p>
            <a:endParaRPr lang="hu-HU" dirty="0"/>
          </a:p>
          <a:p>
            <a:r>
              <a:rPr lang="hu-HU" b="1" dirty="0"/>
              <a:t>Kifejezett probléma lehet ha nincs tanító adat, teljes streaming környezet, adateltolódás</a:t>
            </a:r>
          </a:p>
          <a:p>
            <a:endParaRPr lang="hu-HU" dirty="0"/>
          </a:p>
          <a:p>
            <a:r>
              <a:rPr lang="hu-HU" dirty="0"/>
              <a:t>Van egy </a:t>
            </a:r>
            <a:r>
              <a:rPr lang="hu-HU" dirty="0" err="1"/>
              <a:t>train</a:t>
            </a:r>
            <a:r>
              <a:rPr lang="hu-HU" dirty="0"/>
              <a:t> fázis ahol elkészülnek a klaszterek és utána az új vektor a legközelebbi klaszterekbe kerül. Nem frissül a </a:t>
            </a:r>
            <a:r>
              <a:rPr lang="hu-HU" dirty="0" err="1"/>
              <a:t>klaszterezés</a:t>
            </a:r>
            <a:r>
              <a:rPr lang="hu-HU" dirty="0"/>
              <a:t>.</a:t>
            </a:r>
          </a:p>
          <a:p>
            <a:r>
              <a:rPr lang="hu-HU" dirty="0"/>
              <a:t>Még ha a </a:t>
            </a:r>
            <a:r>
              <a:rPr lang="hu-HU" dirty="0" err="1"/>
              <a:t>klaszterezés</a:t>
            </a:r>
            <a:r>
              <a:rPr lang="hu-HU" dirty="0"/>
              <a:t> nagyon gyors is, nehéz ilyen gyorsan meghatározni, mi a helyes új klaszterszám.</a:t>
            </a:r>
          </a:p>
          <a:p>
            <a:endParaRPr lang="hu-HU" dirty="0"/>
          </a:p>
          <a:p>
            <a:r>
              <a:rPr lang="hu-HU" dirty="0"/>
              <a:t>Ha változik az adatok eloszlása időben a </a:t>
            </a:r>
            <a:r>
              <a:rPr lang="hu-HU" dirty="0" err="1"/>
              <a:t>retrieval</a:t>
            </a:r>
            <a:r>
              <a:rPr lang="hu-HU" dirty="0"/>
              <a:t> minősége romolhat, ha csak nem lesz elkészítve a </a:t>
            </a:r>
            <a:r>
              <a:rPr lang="hu-HU" dirty="0" err="1"/>
              <a:t>klaszterezés</a:t>
            </a:r>
            <a:r>
              <a:rPr lang="hu-HU" dirty="0"/>
              <a:t> újra, új klaszterszámmal.</a:t>
            </a:r>
          </a:p>
          <a:p>
            <a:r>
              <a:rPr lang="hu-HU" b="1" dirty="0"/>
              <a:t>HNSW </a:t>
            </a:r>
            <a:r>
              <a:rPr lang="hu-HU" b="1" dirty="0" err="1"/>
              <a:t>can</a:t>
            </a:r>
            <a:r>
              <a:rPr lang="hu-HU" b="1" dirty="0"/>
              <a:t> </a:t>
            </a:r>
            <a:r>
              <a:rPr lang="hu-HU" b="1" dirty="0" err="1"/>
              <a:t>reorganize</a:t>
            </a:r>
            <a:r>
              <a:rPr lang="hu-HU" b="1" dirty="0"/>
              <a:t> </a:t>
            </a:r>
            <a:r>
              <a:rPr lang="hu-HU" b="1" dirty="0" err="1"/>
              <a:t>itself</a:t>
            </a:r>
            <a:r>
              <a:rPr lang="hu-HU" b="1" dirty="0"/>
              <a:t>, </a:t>
            </a:r>
            <a:r>
              <a:rPr lang="hu-HU" b="0" dirty="0"/>
              <a:t>ez volt a releváns módszer a szempontomból, amihez hasonlítani kellett.</a:t>
            </a:r>
          </a:p>
          <a:p>
            <a:endParaRPr lang="hu-HU" b="0" dirty="0"/>
          </a:p>
          <a:p>
            <a:r>
              <a:rPr lang="hu-HU" b="0" dirty="0"/>
              <a:t>Jövőben </a:t>
            </a:r>
            <a:r>
              <a:rPr lang="hu-HU" b="0" dirty="0" err="1"/>
              <a:t>OnlineKMeans</a:t>
            </a:r>
            <a:r>
              <a:rPr lang="hu-HU" b="0" dirty="0"/>
              <a:t> + FAISS összevonása</a:t>
            </a:r>
            <a:endParaRPr lang="hu-HU" b="1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2740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Ezeknek az értékeknek a megválasztása a </a:t>
            </a:r>
            <a:r>
              <a:rPr lang="hu-HU" dirty="0" err="1"/>
              <a:t>klaszterezés</a:t>
            </a:r>
            <a:r>
              <a:rPr lang="hu-HU" dirty="0"/>
              <a:t> eredményeinek szempontjából kritikus, mint </a:t>
            </a:r>
            <a:r>
              <a:rPr lang="hu-HU" dirty="0" err="1"/>
              <a:t>pl</a:t>
            </a:r>
            <a:r>
              <a:rPr lang="hu-HU" dirty="0"/>
              <a:t> DBSCAN esetén epszilon.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87180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hu-HU" dirty="0"/>
              <a:t>normalizálás, mátrixszorzás</a:t>
            </a:r>
          </a:p>
          <a:p>
            <a:pPr marL="228600" indent="-228600">
              <a:buAutoNum type="arabicPeriod"/>
            </a:pPr>
            <a:r>
              <a:rPr lang="hu-HU" dirty="0"/>
              <a:t>Min távolság kiválasztása</a:t>
            </a:r>
          </a:p>
          <a:p>
            <a:pPr marL="228600" indent="-228600">
              <a:buAutoNum type="arabicPeriod"/>
            </a:pPr>
            <a:r>
              <a:rPr lang="hu-HU" dirty="0"/>
              <a:t>Maximum (</a:t>
            </a:r>
            <a:r>
              <a:rPr lang="hu-HU" dirty="0" err="1"/>
              <a:t>max_clusters</a:t>
            </a:r>
            <a:r>
              <a:rPr lang="hu-HU" dirty="0"/>
              <a:t> - </a:t>
            </a:r>
            <a:r>
              <a:rPr lang="hu-HU" dirty="0" err="1"/>
              <a:t>k</a:t>
            </a:r>
            <a:r>
              <a:rPr lang="hu-HU" dirty="0"/>
              <a:t>) új jöhet létre</a:t>
            </a:r>
          </a:p>
          <a:p>
            <a:pPr marL="228600" indent="-228600"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minden pontot egyszer összeadunk</a:t>
            </a:r>
          </a:p>
          <a:p>
            <a:pPr marL="228600" indent="-228600">
              <a:buAutoNum type="arabicPeriod"/>
            </a:pPr>
            <a:r>
              <a:rPr lang="hu-HU" dirty="0"/>
              <a:t>Klaszterek közötti </a:t>
            </a:r>
            <a:r>
              <a:rPr lang="hu-HU" dirty="0" err="1"/>
              <a:t>páronkénti</a:t>
            </a:r>
            <a:r>
              <a:rPr lang="hu-HU" dirty="0"/>
              <a:t> távolság számítása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9101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2025. 12. 28.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2025. 12. 28.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2025. 12. 28.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2025. 12. 28.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2025. 12. 28.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2025. 12. 28.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2025. 12. 28.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0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000" b="1" dirty="0">
                <a:solidFill>
                  <a:srgbClr val="000000"/>
                </a:solidFill>
                <a:effectLst/>
                <a:latin typeface="+mn-lt"/>
              </a:rPr>
              <a:t> technikák alkalmazása az </a:t>
            </a:r>
            <a:r>
              <a:rPr lang="hu-HU" sz="4000" b="1" dirty="0" err="1">
                <a:solidFill>
                  <a:srgbClr val="000000"/>
                </a:solidFill>
                <a:effectLst/>
                <a:latin typeface="+mn-lt"/>
              </a:rPr>
              <a:t>embedding</a:t>
            </a:r>
            <a:r>
              <a:rPr lang="hu-HU" sz="4000" b="1" dirty="0">
                <a:solidFill>
                  <a:srgbClr val="000000"/>
                </a:solidFill>
                <a:effectLst/>
                <a:latin typeface="+mn-lt"/>
              </a:rPr>
              <a:t>-alapú visszakeresés hatékonyságának növelésére RAG környezetben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Szakdolgozat védés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2025. 12. 28.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/23</a:t>
            </a:r>
          </a:p>
        </p:txBody>
      </p:sp>
      <p:pic>
        <p:nvPicPr>
          <p:cNvPr id="14" name="Tartalom helye 13" descr="A képen képernyőkép, tervezés látható&#10;&#10;Automatikusan generált leírás">
            <a:extLst>
              <a:ext uri="{FF2B5EF4-FFF2-40B4-BE49-F238E27FC236}">
                <a16:creationId xmlns:a16="http://schemas.microsoft.com/office/drawing/2014/main" id="{4F788331-C903-2566-1678-EADA4E2F2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25148"/>
            <a:ext cx="12192000" cy="3417703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B7ABF0-6D9E-4C70-989A-9BB78F9C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Kutatásom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1D3057-2929-507F-31B0-3F589DF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b="1" dirty="0" err="1"/>
              <a:t>Retrieval</a:t>
            </a:r>
            <a:r>
              <a:rPr lang="hu-HU" dirty="0"/>
              <a:t> architektúra kidolgozása: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Klaszterezésen</a:t>
            </a:r>
            <a:r>
              <a:rPr lang="hu-HU" dirty="0"/>
              <a:t> alapul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Gyors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Képes dinamikusan integrálni új dokumentumokat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5E6796-0162-C42C-C416-95BBB0C4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319C39-3934-28BE-CA8E-FD6973DE4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/23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A53F255-7F10-1432-1818-2AED26E19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/23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2025. 12. 28.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2025. 12. 28.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17F819-8BCE-2330-A7A0-C4736D45F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2025. 12. 28.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/23</a:t>
            </a:r>
          </a:p>
        </p:txBody>
      </p:sp>
      <p:pic>
        <p:nvPicPr>
          <p:cNvPr id="9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9802B26B-5623-55E8-689D-DE2B61E993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78" y="1818226"/>
            <a:ext cx="10428644" cy="4559630"/>
          </a:xfrm>
        </p:spPr>
      </p:pic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/23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  <p:pic>
        <p:nvPicPr>
          <p:cNvPr id="7" name="Kép 6" descr="A képen szöveg, Betűtípus, sor, fehér látható&#10;&#10;Automatikusan generált leírás">
            <a:extLst>
              <a:ext uri="{FF2B5EF4-FFF2-40B4-BE49-F238E27FC236}">
                <a16:creationId xmlns:a16="http://schemas.microsoft.com/office/drawing/2014/main" id="{933C162E-CF86-3CC3-BB8D-4B440F106B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778" y="3699673"/>
            <a:ext cx="4123222" cy="84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/23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A0F2EC60-07E1-40E5-2E7C-5798A9BCD6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550" y="1300957"/>
            <a:ext cx="4152900" cy="304800"/>
          </a:xfrm>
          <a:prstGeom prst="rect">
            <a:avLst/>
          </a:prstGeom>
        </p:spPr>
      </p:pic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6E4BE6F1-8C8E-3ADF-FC5C-3BBB424244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026755" y="1525646"/>
            <a:ext cx="8138490" cy="519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75F43D-5E96-C6FF-F194-39B287E9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/23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Pontossági mérés beállításai:</a:t>
            </a:r>
          </a:p>
          <a:p>
            <a:pPr lvl="1"/>
            <a:r>
              <a:rPr lang="hu-HU" sz="2800" dirty="0"/>
              <a:t>Szintetikus adathalmaz:</a:t>
            </a:r>
          </a:p>
          <a:p>
            <a:pPr lvl="2"/>
            <a:r>
              <a:rPr lang="hu-HU" sz="2400" dirty="0"/>
              <a:t>500 dimenziós vektorok</a:t>
            </a:r>
          </a:p>
          <a:p>
            <a:pPr lvl="2"/>
            <a:r>
              <a:rPr lang="hu-HU" sz="2400" dirty="0"/>
              <a:t>10.000 adatpont</a:t>
            </a:r>
          </a:p>
          <a:p>
            <a:pPr lvl="2"/>
            <a:r>
              <a:rPr lang="hu-HU" sz="2400" dirty="0"/>
              <a:t>200, 300, 400, 500, 800 klaszter</a:t>
            </a:r>
          </a:p>
          <a:p>
            <a:pPr lvl="2"/>
            <a:r>
              <a:rPr lang="hu-HU" sz="2400" dirty="0"/>
              <a:t>Minden klaszterszámra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sz="2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706CA3B-1CFC-6554-FE05-C02C44B7B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/23</a:t>
            </a:r>
          </a:p>
        </p:txBody>
      </p:sp>
      <p:pic>
        <p:nvPicPr>
          <p:cNvPr id="13" name="Tartalom helye 12" descr="A képen szöveg, képernyőkép, Betűtípus, szám látható&#10;&#10;Automatikusan generált leírás">
            <a:extLst>
              <a:ext uri="{FF2B5EF4-FFF2-40B4-BE49-F238E27FC236}">
                <a16:creationId xmlns:a16="http://schemas.microsoft.com/office/drawing/2014/main" id="{064548B2-D930-DEC7-0BF1-99A02E296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780" y="1317287"/>
            <a:ext cx="7806440" cy="5412465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/23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4FACBE2-2C8B-8AAE-B2F1-5B95A68DA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525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/23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55A286-E27A-84E1-58E0-3747F6853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8450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/23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20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2025. 12. 28.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21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8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EDFB7719-4604-56A1-6B5F-091C2C0374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89" y="2025741"/>
            <a:ext cx="10231623" cy="4473488"/>
          </a:xfrm>
        </p:spPr>
      </p:pic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614176-4EBA-9C4A-5FDA-3CBC1D773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1/3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3A1FAD-606A-5828-938D-73C321CF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5.2 fejezetben azt írja, hogy a dokumentumok 15%-át távolította el és 0.6-os hasonlósági küszöbértéket választott. Vizsgálta-e esetleg a teljesítményt más paraméter választás mellett? Mennyire érzékenyek az eredmények ezen paraméterekre?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Főleg a hasonlósági küszöbérték megválasztásától függ a pontossági eredmény. A hiányzó dokumentumok aránya nem befolyásoló tényező.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EB153C-BED5-14B3-D9E5-D1C2AC78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C1B7534-0033-B93B-0AB6-CDF50329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38125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91160E-3CFC-51F4-0D64-B37431A4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1/3 kérdés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895B76-EC99-4CD9-78E8-9824BC16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5FFE7B-BCCA-F723-ACE8-474D143B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25" name="Tartalom helye 24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CE0527A9-DCDC-7142-71A0-C91818F692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4387"/>
            <a:ext cx="6096000" cy="2770909"/>
          </a:xfrm>
        </p:spPr>
      </p:pic>
      <p:pic>
        <p:nvPicPr>
          <p:cNvPr id="27" name="Kép 26" descr="A képen szöveg, sor, Diagram, Betűtípus látható&#10;&#10;Automatikusan generált leírás">
            <a:extLst>
              <a:ext uri="{FF2B5EF4-FFF2-40B4-BE49-F238E27FC236}">
                <a16:creationId xmlns:a16="http://schemas.microsoft.com/office/drawing/2014/main" id="{EFF63355-4441-C47C-C10A-AE24B3BE76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4388"/>
            <a:ext cx="6095999" cy="2770909"/>
          </a:xfrm>
          <a:prstGeom prst="rect">
            <a:avLst/>
          </a:prstGeom>
        </p:spPr>
      </p:pic>
      <p:pic>
        <p:nvPicPr>
          <p:cNvPr id="29" name="Kép 2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1F1A2F7-F0B7-6BCB-9E60-95C5091006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" y="3940106"/>
            <a:ext cx="6098400" cy="2772000"/>
          </a:xfrm>
          <a:prstGeom prst="rect">
            <a:avLst/>
          </a:prstGeom>
        </p:spPr>
      </p:pic>
      <p:pic>
        <p:nvPicPr>
          <p:cNvPr id="31" name="Kép 30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A271C484-B3A3-F8E7-CD05-349FDF08D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800" y="4020641"/>
            <a:ext cx="6098399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175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C2D948-E810-3B60-6951-A5D022A7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2/3 kérdés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04CF62-587D-AB1F-2779-C1194997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724136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A kísérleteit viszonylag egy adott beágyazási modell és adathalmaz esetére végezte el - mit gondol mennyire általánosak a kapott eredmények, van-e esetleg okunk azt gondolni, hogy más beágyazás vagy adathalmaz esetén is hasonló eredményeket kapnánk?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</a:t>
            </a:r>
            <a:r>
              <a:rPr lang="hu-HU" dirty="0" err="1"/>
              <a:t>SQuAD</a:t>
            </a:r>
            <a:r>
              <a:rPr lang="hu-HU" dirty="0"/>
              <a:t> egy QA típusú adathalmaz, amelyhez az </a:t>
            </a:r>
            <a:r>
              <a:rPr lang="hu-HU" dirty="0" err="1"/>
              <a:t>all-MiniLM</a:t>
            </a:r>
            <a:r>
              <a:rPr lang="hu-HU" dirty="0"/>
              <a:t> jól passzol, mert mondatpárok összehasonlítására is </a:t>
            </a:r>
            <a:r>
              <a:rPr lang="hu-HU" dirty="0" err="1"/>
              <a:t>finomhangolva</a:t>
            </a:r>
            <a:r>
              <a:rPr lang="hu-HU" dirty="0"/>
              <a:t> lett. Azonban a </a:t>
            </a:r>
            <a:r>
              <a:rPr lang="hu-HU" dirty="0" err="1"/>
              <a:t>Snowflake</a:t>
            </a:r>
            <a:r>
              <a:rPr lang="hu-HU" dirty="0"/>
              <a:t> modell által mutatott eredmények ugyanazokat a trendeket mutatják, mint az </a:t>
            </a:r>
            <a:r>
              <a:rPr lang="hu-HU" dirty="0" err="1"/>
              <a:t>all-MiniLM</a:t>
            </a:r>
            <a:r>
              <a:rPr lang="hu-HU" dirty="0"/>
              <a:t> esetén.</a:t>
            </a:r>
          </a:p>
          <a:p>
            <a:pPr marL="0" indent="0">
              <a:buNone/>
            </a:pPr>
            <a:r>
              <a:rPr lang="hu-HU" b="0" i="0" dirty="0">
                <a:solidFill>
                  <a:srgbClr val="222222"/>
                </a:solidFill>
                <a:effectLst/>
              </a:rPr>
              <a:t>Más típusú adathalmazok vizsgálata célszerű lehet, és hasonló</a:t>
            </a:r>
            <a:br>
              <a:rPr lang="hu-HU" dirty="0"/>
            </a:br>
            <a:r>
              <a:rPr lang="hu-HU" b="0" i="0" dirty="0">
                <a:solidFill>
                  <a:srgbClr val="222222"/>
                </a:solidFill>
                <a:effectLst/>
              </a:rPr>
              <a:t>eredményekre számítok.</a:t>
            </a:r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5B467D2-401F-D6C0-10A7-A4565B8AE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92615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7422EA-7398-724E-82EE-D82CC4D20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2/3 kérdés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B71D7F-EB65-674D-645A-C74E58574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8B51A08-F296-A854-BF05-4325B0486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9" name="Tartalom helye 8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D1FE94C6-D4AA-2214-268F-E5E6F172B0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360" y="1546750"/>
            <a:ext cx="8657280" cy="4809600"/>
          </a:xfrm>
        </p:spPr>
      </p:pic>
      <p:pic>
        <p:nvPicPr>
          <p:cNvPr id="11" name="Kép 10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1B1D2EF-D019-C62C-250E-CAC3C6AAF8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360" y="1546750"/>
            <a:ext cx="8657280" cy="48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84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FD2839-A558-CE58-D988-2A70BB3D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Bíráló – 3/3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CBE8E2-710D-D873-97C2-3629D7B4C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/>
              <a:t>A kísérleteiben a javasolt </a:t>
            </a:r>
            <a:r>
              <a:rPr lang="hu-HU" dirty="0" err="1"/>
              <a:t>klaszterezés</a:t>
            </a:r>
            <a:r>
              <a:rPr lang="hu-HU" dirty="0"/>
              <a:t>-alapú módszerek a minőség rovására javítanak a hatékonyságon a szokásos kereséshez képest. Tudja-e esetleg konkretizálni, hogy milyen alkalmazások, vagy szcenáriók esetén érné meg inkább a </a:t>
            </a:r>
            <a:r>
              <a:rPr lang="hu-HU" dirty="0" err="1"/>
              <a:t>klaszterezést</a:t>
            </a:r>
            <a:r>
              <a:rPr lang="hu-HU" dirty="0"/>
              <a:t> használni a bevett módszerekkel szemben?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Olyan dinamikusan változó tudásbázisok esetén, ahol az új információk témája előre nem látható módon és gyorsan változik, a rendszernek pedig valós időben kell integrálni az új adatokat.</a:t>
            </a:r>
          </a:p>
          <a:p>
            <a:r>
              <a:rPr lang="hu-HU" dirty="0"/>
              <a:t>Valós idejű híráram és közösségi média</a:t>
            </a:r>
          </a:p>
          <a:p>
            <a:r>
              <a:rPr lang="hu-HU" dirty="0"/>
              <a:t>Élő ügyfélszolgálat chatbot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380C67-3C45-D763-3973-7ED6B3540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41420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3D404A-3302-6578-2D67-2C24E0F7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1/3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20C507-EB27-3FCF-ED99-D04A0F081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652963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Hogyan kapcsolódik a bevezetett klaszter alapú, két lépcsős dokumentum keresés a FAISS könyvtárba tartozó IVF indexelési módszerhez?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kutatásom célja a dinamikus, streaming környezetek hatékony kezelése volt. FAISS IVF </a:t>
            </a:r>
            <a:r>
              <a:rPr lang="hu-HU" dirty="0" err="1"/>
              <a:t>KMeans</a:t>
            </a:r>
            <a:r>
              <a:rPr lang="hu-HU" dirty="0"/>
              <a:t> </a:t>
            </a:r>
            <a:r>
              <a:rPr lang="hu-HU" dirty="0" err="1"/>
              <a:t>klaszterezésen</a:t>
            </a:r>
            <a:r>
              <a:rPr lang="hu-HU" dirty="0"/>
              <a:t> alapszik, koncepcionálisan hasonlít az én módszeremre, de nem képes új klasztereket létrehozni, és meglévőket módosítani. Azért a HNSW alapú FAISS indexet választottam kiértékeléskor, mert képes gyorsan integrálni új adatokat, miközben a gráf struktúráját is változtatja. Az IVF-ben új pontok ugyan hozzáadhatók, de a klaszterstruktúra csak </a:t>
            </a:r>
            <a:r>
              <a:rPr lang="hu-HU" dirty="0" err="1"/>
              <a:t>újratanítással</a:t>
            </a:r>
            <a:r>
              <a:rPr lang="hu-HU" dirty="0"/>
              <a:t> frissíthető, </a:t>
            </a:r>
            <a:r>
              <a:rPr lang="hu-HU" dirty="0" err="1"/>
              <a:t>centroidjai</a:t>
            </a:r>
            <a:r>
              <a:rPr lang="hu-HU" dirty="0"/>
              <a:t> statikusak.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C9FEC2-180B-7E5C-D40A-C4B2BEC1B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F5D90A3-581C-D439-01FA-2812B87D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18943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A6FD8F-0EC8-FA24-9871-53A30DCF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2/3 kérdés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9949F5-1AC9-199E-3E98-BD1808EDE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15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küszöbértékeket tartalmaz a klaszterek összevonására és új klaszter bevezetésére. Milyen módszerrel lettek ezek az értékek kiválasztva, és milyen hatása van a túl alacsony vagy túl magas értéknek a rendszer stabilitására?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r>
              <a:rPr lang="hu-HU" dirty="0"/>
              <a:t>A küszöbértékeket az adathalmaz elemzése alapján választottam meg, és az adott környezethez kell hangolni őket.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Összevonási küszöbérték:</a:t>
            </a:r>
            <a:br>
              <a:rPr lang="hu-HU" dirty="0"/>
            </a:br>
            <a:r>
              <a:rPr lang="hu-HU" dirty="0"/>
              <a:t>Túl alacsony értéknél nem vonódnak össze a klaszterek, túl magasnál szinte mind összeolvad.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Új klaszter küszöbérték:</a:t>
            </a:r>
            <a:br>
              <a:rPr lang="hu-HU" dirty="0"/>
            </a:br>
            <a:r>
              <a:rPr lang="hu-HU" dirty="0"/>
              <a:t>Túl magas értéknél nem keletkeznek új klaszterek, túl alacsonynál túl sok jön létre.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213920-9C0B-904B-7D21-4B7673C7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866DA96-D6F4-97A7-6DB9-E4B1BE20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62809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BAD43B-D426-7CBC-3AE6-E58FABDB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Bíráló – 3/3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D280D0-76BB-3A65-EB32-5B0854E10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leírásában nem szerepel a klaszterösszevonási iteráció. Ez hogyan módosítaná az 1. táblázatban lévő időkomplexitási becslést?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Távolságok számítása: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Min távolságok kiválasztása: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Új klaszterek létrehozása: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Klaszterek összevonása: </a:t>
            </a:r>
            <a:r>
              <a:rPr lang="hu-HU" dirty="0" err="1"/>
              <a:t>O</a:t>
            </a:r>
            <a:r>
              <a:rPr lang="hu-HU" dirty="0"/>
              <a:t>(k</a:t>
            </a:r>
            <a:r>
              <a:rPr lang="hu-HU" baseline="30000" dirty="0"/>
              <a:t>2</a:t>
            </a:r>
            <a:r>
              <a:rPr lang="hu-HU" dirty="0"/>
              <a:t>⋅d)</a:t>
            </a:r>
          </a:p>
        </p:txBody>
      </p:sp>
      <p:sp>
        <p:nvSpPr>
          <p:cNvPr id="6" name="Jobb oldali szögletes zárójel 5">
            <a:extLst>
              <a:ext uri="{FF2B5EF4-FFF2-40B4-BE49-F238E27FC236}">
                <a16:creationId xmlns:a16="http://schemas.microsoft.com/office/drawing/2014/main" id="{0111E78A-2683-DBB9-9E94-68F904F35B99}"/>
              </a:ext>
            </a:extLst>
          </p:cNvPr>
          <p:cNvSpPr/>
          <p:nvPr/>
        </p:nvSpPr>
        <p:spPr>
          <a:xfrm>
            <a:off x="6282267" y="3802856"/>
            <a:ext cx="677333" cy="1642534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8BB2EFC9-130C-6FF5-2D1E-5D2A892FAC5C}"/>
              </a:ext>
            </a:extLst>
          </p:cNvPr>
          <p:cNvCxnSpPr>
            <a:cxnSpLocks/>
          </p:cNvCxnSpPr>
          <p:nvPr/>
        </p:nvCxnSpPr>
        <p:spPr>
          <a:xfrm flipV="1">
            <a:off x="6959600" y="4624122"/>
            <a:ext cx="457200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FAFBA148-CF94-6825-68AF-99F756B8E2C2}"/>
              </a:ext>
            </a:extLst>
          </p:cNvPr>
          <p:cNvCxnSpPr>
            <a:cxnSpLocks/>
          </p:cNvCxnSpPr>
          <p:nvPr/>
        </p:nvCxnSpPr>
        <p:spPr>
          <a:xfrm>
            <a:off x="6282267" y="5792523"/>
            <a:ext cx="224366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5EE71E48-DECC-1EA8-CD32-FB24377A3C23}"/>
              </a:ext>
            </a:extLst>
          </p:cNvPr>
          <p:cNvSpPr txBox="1"/>
          <p:nvPr/>
        </p:nvSpPr>
        <p:spPr>
          <a:xfrm>
            <a:off x="7416800" y="4377900"/>
            <a:ext cx="22182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 err="1"/>
              <a:t>O</a:t>
            </a:r>
            <a:r>
              <a:rPr lang="hu-HU" sz="2600" dirty="0"/>
              <a:t>(</a:t>
            </a:r>
            <a:r>
              <a:rPr lang="hu-HU" sz="2600" dirty="0" err="1"/>
              <a:t>n⋅k⋅d</a:t>
            </a:r>
            <a:r>
              <a:rPr lang="hu-HU" sz="2600" dirty="0"/>
              <a:t>)</a:t>
            </a:r>
          </a:p>
        </p:txBody>
      </p:sp>
      <p:sp>
        <p:nvSpPr>
          <p:cNvPr id="14" name="Jobb oldali szögletes zárójel 13">
            <a:extLst>
              <a:ext uri="{FF2B5EF4-FFF2-40B4-BE49-F238E27FC236}">
                <a16:creationId xmlns:a16="http://schemas.microsoft.com/office/drawing/2014/main" id="{FF3730C2-03F2-3F39-4113-247653C9466B}"/>
              </a:ext>
            </a:extLst>
          </p:cNvPr>
          <p:cNvSpPr/>
          <p:nvPr/>
        </p:nvSpPr>
        <p:spPr>
          <a:xfrm>
            <a:off x="8703735" y="4641054"/>
            <a:ext cx="385233" cy="1098101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5" name="Egyenes összekötő nyíllal 14">
            <a:extLst>
              <a:ext uri="{FF2B5EF4-FFF2-40B4-BE49-F238E27FC236}">
                <a16:creationId xmlns:a16="http://schemas.microsoft.com/office/drawing/2014/main" id="{6B15900E-A6BD-C5EA-A3A1-C7A69C3E236C}"/>
              </a:ext>
            </a:extLst>
          </p:cNvPr>
          <p:cNvCxnSpPr>
            <a:cxnSpLocks/>
          </p:cNvCxnSpPr>
          <p:nvPr/>
        </p:nvCxnSpPr>
        <p:spPr>
          <a:xfrm>
            <a:off x="9088968" y="5190104"/>
            <a:ext cx="39793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7382F609-DC90-1DC6-FD7E-3F582CF5355F}"/>
              </a:ext>
            </a:extLst>
          </p:cNvPr>
          <p:cNvSpPr txBox="1"/>
          <p:nvPr/>
        </p:nvSpPr>
        <p:spPr>
          <a:xfrm>
            <a:off x="9486902" y="4953266"/>
            <a:ext cx="27050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/>
              <a:t>O(</a:t>
            </a:r>
            <a:r>
              <a:rPr lang="hu-HU" sz="2600" dirty="0" err="1"/>
              <a:t>n⋅k⋅d</a:t>
            </a:r>
            <a:r>
              <a:rPr lang="hu-HU" sz="2600" dirty="0"/>
              <a:t>) + </a:t>
            </a:r>
            <a:r>
              <a:rPr lang="hu-HU" sz="2600" dirty="0" err="1"/>
              <a:t>O</a:t>
            </a:r>
            <a:r>
              <a:rPr lang="hu-HU" sz="2600" dirty="0"/>
              <a:t>(k</a:t>
            </a:r>
            <a:r>
              <a:rPr lang="hu-HU" sz="2600" baseline="30000" dirty="0"/>
              <a:t>2</a:t>
            </a:r>
            <a:r>
              <a:rPr lang="hu-HU" sz="2600" dirty="0"/>
              <a:t>⋅d) 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B452A17-3FAB-DD31-DB70-FEABF5A2F72C}"/>
              </a:ext>
            </a:extLst>
          </p:cNvPr>
          <p:cNvSpPr txBox="1"/>
          <p:nvPr/>
        </p:nvSpPr>
        <p:spPr>
          <a:xfrm>
            <a:off x="8255000" y="5929592"/>
            <a:ext cx="39370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/>
              <a:t>Az időkomplexitás lényegében nem változna.</a:t>
            </a:r>
          </a:p>
          <a:p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B35AFD7F-E0D0-AC4F-A87D-69A3974529C8}"/>
              </a:ext>
            </a:extLst>
          </p:cNvPr>
          <p:cNvSpPr txBox="1"/>
          <p:nvPr/>
        </p:nvSpPr>
        <p:spPr>
          <a:xfrm>
            <a:off x="270934" y="5929592"/>
            <a:ext cx="5029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n</a:t>
            </a:r>
            <a:r>
              <a:rPr lang="hu-HU" dirty="0"/>
              <a:t>: batch elemszáma</a:t>
            </a:r>
          </a:p>
          <a:p>
            <a:r>
              <a:rPr lang="hu-HU" dirty="0"/>
              <a:t>k: klaszterszám</a:t>
            </a:r>
          </a:p>
          <a:p>
            <a:r>
              <a:rPr lang="hu-HU" dirty="0"/>
              <a:t>d: adatok dimenziója</a:t>
            </a:r>
          </a:p>
        </p:txBody>
      </p:sp>
    </p:spTree>
    <p:extLst>
      <p:ext uri="{BB962C8B-B14F-4D97-AF65-F5344CB8AC3E}">
        <p14:creationId xmlns:p14="http://schemas.microsoft.com/office/powerpoint/2010/main" val="3886749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1260</TotalTime>
  <Words>3269</Words>
  <Application>Microsoft Macintosh PowerPoint</Application>
  <PresentationFormat>Szélesvásznú</PresentationFormat>
  <Paragraphs>396</Paragraphs>
  <Slides>31</Slides>
  <Notes>30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Times New Roman</vt:lpstr>
      <vt:lpstr>Office-téma</vt:lpstr>
      <vt:lpstr>Klaszterezési technikák alkalmazása az embedding-alapú visszakeresés hatékonyságának növelésére RAG környezetben</vt:lpstr>
      <vt:lpstr>Retrieval Augmented Generation</vt:lpstr>
      <vt:lpstr>Kutatásom célja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1. Bíráló – 1/3 kérdés</vt:lpstr>
      <vt:lpstr>1. Bíráló – 1/3 kérdés</vt:lpstr>
      <vt:lpstr>1. Bíráló – 2/3 kérdés </vt:lpstr>
      <vt:lpstr>1. Bíráló – 2/3 kérdés</vt:lpstr>
      <vt:lpstr>1. Bíráló – 3/3 kérdés</vt:lpstr>
      <vt:lpstr>2. Bíráló – 1/3 kérdés</vt:lpstr>
      <vt:lpstr>2. Bíráló – 2/3 kérdés </vt:lpstr>
      <vt:lpstr>2. Bíráló – 3/3 kérdés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501</cp:revision>
  <cp:lastPrinted>2025-11-09T09:32:58Z</cp:lastPrinted>
  <dcterms:created xsi:type="dcterms:W3CDTF">2025-10-16T06:59:48Z</dcterms:created>
  <dcterms:modified xsi:type="dcterms:W3CDTF">2025-12-28T17:52:17Z</dcterms:modified>
</cp:coreProperties>
</file>