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58" r:id="rId5"/>
    <p:sldId id="259" r:id="rId6"/>
    <p:sldId id="263" r:id="rId7"/>
    <p:sldId id="262" r:id="rId8"/>
    <p:sldId id="261" r:id="rId9"/>
    <p:sldId id="264" r:id="rId10"/>
    <p:sldId id="271" r:id="rId11"/>
    <p:sldId id="273" r:id="rId12"/>
    <p:sldId id="265" r:id="rId13"/>
    <p:sldId id="274" r:id="rId14"/>
    <p:sldId id="266" r:id="rId15"/>
    <p:sldId id="275" r:id="rId16"/>
    <p:sldId id="267" r:id="rId17"/>
    <p:sldId id="272" r:id="rId18"/>
    <p:sldId id="270" r:id="rId19"/>
    <p:sldId id="276" r:id="rId20"/>
    <p:sldId id="277" r:id="rId21"/>
    <p:sldId id="278" r:id="rId22"/>
    <p:sldId id="279" r:id="rId23"/>
    <p:sldId id="282" r:id="rId24"/>
    <p:sldId id="289" r:id="rId25"/>
    <p:sldId id="291" r:id="rId26"/>
    <p:sldId id="260" r:id="rId2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10" autoAdjust="0"/>
    <p:restoredTop sz="70659" autoAdjust="0"/>
  </p:normalViewPr>
  <p:slideViewPr>
    <p:cSldViewPr snapToGrid="0">
      <p:cViewPr varScale="1">
        <p:scale>
          <a:sx n="80" d="100"/>
          <a:sy n="80" d="100"/>
        </p:scale>
        <p:origin x="10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2026. 01. 07.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24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Klaszterezési</a:t>
            </a:r>
            <a:r>
              <a:rPr lang="hu-H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technikák alkalmazása az </a:t>
            </a:r>
            <a:r>
              <a:rPr lang="hu-HU" sz="24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embedding</a:t>
            </a:r>
            <a:r>
              <a:rPr lang="hu-H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-alapú visszakeresés hatékonyságának növelésére RAG környezetben</a:t>
            </a:r>
            <a:r>
              <a:rPr lang="hu-HU" sz="1600" dirty="0"/>
              <a:t>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Olyan </a:t>
            </a:r>
            <a:r>
              <a:rPr lang="hu-HU" dirty="0" err="1"/>
              <a:t>klaszterezés</a:t>
            </a:r>
            <a:r>
              <a:rPr lang="hu-HU" dirty="0"/>
              <a:t>-alapú </a:t>
            </a:r>
            <a:r>
              <a:rPr lang="hu-HU" dirty="0" err="1"/>
              <a:t>retrieval</a:t>
            </a:r>
            <a:r>
              <a:rPr lang="hu-HU" dirty="0"/>
              <a:t> megközelítés kidolgozása, amely gyors, hatékony és lehetővé teszi új dokumentumok zökkenőmentes integrálását a tudásbázisba.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6145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  <a:p>
            <a:endParaRPr lang="hu-HU" dirty="0"/>
          </a:p>
          <a:p>
            <a:r>
              <a:rPr lang="hu-HU" dirty="0"/>
              <a:t>Koszinusz </a:t>
            </a:r>
            <a:r>
              <a:rPr lang="hu-HU" dirty="0" err="1"/>
              <a:t>vs</a:t>
            </a:r>
            <a:r>
              <a:rPr lang="hu-HU" dirty="0"/>
              <a:t> euklideszi:</a:t>
            </a:r>
          </a:p>
          <a:p>
            <a:r>
              <a:rPr lang="hu-HU" dirty="0"/>
              <a:t>A koszinusz hasonlóság a vektorok iránya (szöge) alapján mér, míg az euklideszi távolság a köztük lévő tényleges távolságot nézi, de normalizált adatokon mindkettő ugyanazt a találati rangsort adja. A döntő különbség a számítási hatékonyság, mivel a koszinusz hasonlóság egy gyorsabb skaláris szorzattá egyszerűsödik, míg az euklideszi távolság számítása többletmunkát igényel. Ezenkívül a koszinusz hasonlóság (-1-től 1-ig terjedő skálája) gyakran intuitívabb és eltérő küszöbértékeket igényel, mint az euklideszi távolság (0-tól 2-ig terjedő skálája).</a:t>
            </a:r>
          </a:p>
          <a:p>
            <a:r>
              <a:rPr lang="hu-HU" dirty="0"/>
              <a:t>L2 normalizált vektorok esetén (hosszuk 1) a két metrika átváltható egymásba, tökéletesen ugyanazt az eredményt adják.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</a:t>
            </a:r>
            <a:r>
              <a:rPr lang="hu-HU" b="1" dirty="0"/>
              <a:t>súlyozott</a:t>
            </a:r>
            <a:r>
              <a:rPr lang="hu-HU" dirty="0"/>
              <a:t> </a:t>
            </a:r>
            <a:r>
              <a:rPr lang="hu-HU" b="1" dirty="0"/>
              <a:t>átlagolással</a:t>
            </a:r>
            <a:r>
              <a:rPr lang="hu-HU" dirty="0"/>
              <a:t>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Egyre több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query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esik a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threshold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alá -&gt; FN nő!</a:t>
            </a: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TN gyorsabban nő, mint FN ront rajta.</a:t>
            </a:r>
          </a:p>
          <a:p>
            <a:r>
              <a:rPr lang="hu-HU" dirty="0" err="1"/>
              <a:t>class</a:t>
            </a:r>
            <a:r>
              <a:rPr lang="hu-HU" dirty="0"/>
              <a:t> </a:t>
            </a:r>
            <a:r>
              <a:rPr lang="hu-HU" dirty="0" err="1"/>
              <a:t>imbalance</a:t>
            </a:r>
            <a:r>
              <a:rPr lang="hu-HU" dirty="0"/>
              <a:t> + </a:t>
            </a:r>
            <a:r>
              <a:rPr lang="hu-HU" dirty="0" err="1"/>
              <a:t>reject-option</a:t>
            </a:r>
            <a:r>
              <a:rPr lang="hu-HU" dirty="0"/>
              <a:t> -&gt; döntési fázis nem csak </a:t>
            </a:r>
            <a:r>
              <a:rPr lang="hu-HU" dirty="0" err="1"/>
              <a:t>retrieval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megoldást nyújt 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r>
              <a:rPr lang="hu-HU" dirty="0"/>
              <a:t>Sikeresen megoldottam újonnan érkező dokumentumok gyors integrálását a tudásbázisba, hogy a </a:t>
            </a:r>
            <a:r>
              <a:rPr lang="hu-HU" dirty="0" err="1"/>
              <a:t>retrieval</a:t>
            </a:r>
            <a:r>
              <a:rPr lang="hu-HU" dirty="0"/>
              <a:t> pontossága ne romoljon le!!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Készültem bírálói kérdésekkel, de amennyiben bármilyen kérdés felmerült azt is szívesen megválaszolom.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6145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Mennyire jelent problémát az ha nem adjuk vissza a helyes szövegrészeket és mennyire ha visszaadunk olyat ami félrevezetheti a felhasználót.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31356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2026. 01. 07.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2026. 01. 07.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2026. 01. 07.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2026. 01. 07.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2026. 01. 07.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2026. 01. 07.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2026. 01. 07.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0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000" b="1" dirty="0">
                <a:solidFill>
                  <a:srgbClr val="000000"/>
                </a:solidFill>
                <a:effectLst/>
                <a:latin typeface="+mn-lt"/>
              </a:rPr>
              <a:t> technikák alkalmazása az </a:t>
            </a:r>
            <a:r>
              <a:rPr lang="hu-HU" sz="4000" b="1" dirty="0" err="1">
                <a:solidFill>
                  <a:srgbClr val="000000"/>
                </a:solidFill>
                <a:effectLst/>
                <a:latin typeface="+mn-lt"/>
              </a:rPr>
              <a:t>embedding</a:t>
            </a:r>
            <a:r>
              <a:rPr lang="hu-HU" sz="4000" b="1" dirty="0">
                <a:solidFill>
                  <a:srgbClr val="000000"/>
                </a:solidFill>
                <a:effectLst/>
                <a:latin typeface="+mn-lt"/>
              </a:rPr>
              <a:t>-alapú visszakeresés hatékonyságának növelésére RAG környezetben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Szakdolgozat védés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2026. 01. 07.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/23</a:t>
            </a:r>
          </a:p>
        </p:txBody>
      </p:sp>
      <p:pic>
        <p:nvPicPr>
          <p:cNvPr id="14" name="Tartalom helye 13" descr="A képen képernyőkép, tervezés látható&#10;&#10;Automatikusan generált leírás">
            <a:extLst>
              <a:ext uri="{FF2B5EF4-FFF2-40B4-BE49-F238E27FC236}">
                <a16:creationId xmlns:a16="http://schemas.microsoft.com/office/drawing/2014/main" id="{4F788331-C903-2566-1678-EADA4E2F2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25148"/>
            <a:ext cx="12192000" cy="3417703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B7ABF0-6D9E-4C70-989A-9BB78F9C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Kutatásom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1D3057-2929-507F-31B0-3F589DF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b="1" dirty="0" err="1"/>
              <a:t>Retrieval</a:t>
            </a:r>
            <a:r>
              <a:rPr lang="hu-HU" dirty="0"/>
              <a:t> architektúra kidolgozása: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Klaszterezésen</a:t>
            </a:r>
            <a:r>
              <a:rPr lang="hu-HU" dirty="0"/>
              <a:t> alapul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Gyors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Képes dinamikusan integrálni új dokumentumokat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5E6796-0162-C42C-C416-95BBB0C4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319C39-3934-28BE-CA8E-FD6973DE4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/23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A53F255-7F10-1432-1818-2AED26E19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/23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2026. 01. 07.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2026. 01. 07.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17F819-8BCE-2330-A7A0-C4736D45F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2026. 01. 07.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/23</a:t>
            </a:r>
          </a:p>
        </p:txBody>
      </p:sp>
      <p:pic>
        <p:nvPicPr>
          <p:cNvPr id="9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9802B26B-5623-55E8-689D-DE2B61E993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78" y="1818226"/>
            <a:ext cx="10428644" cy="4559630"/>
          </a:xfrm>
        </p:spPr>
      </p:pic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/23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  <p:pic>
        <p:nvPicPr>
          <p:cNvPr id="7" name="Kép 6" descr="A képen szöveg, Betűtípus, sor, fehér látható&#10;&#10;Automatikusan generált leírás">
            <a:extLst>
              <a:ext uri="{FF2B5EF4-FFF2-40B4-BE49-F238E27FC236}">
                <a16:creationId xmlns:a16="http://schemas.microsoft.com/office/drawing/2014/main" id="{933C162E-CF86-3CC3-BB8D-4B440F106B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778" y="3699673"/>
            <a:ext cx="4123222" cy="84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/23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A0F2EC60-07E1-40E5-2E7C-5798A9BCD6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550" y="1300957"/>
            <a:ext cx="4152900" cy="304800"/>
          </a:xfrm>
          <a:prstGeom prst="rect">
            <a:avLst/>
          </a:prstGeom>
        </p:spPr>
      </p:pic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6E4BE6F1-8C8E-3ADF-FC5C-3BBB424244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026755" y="1525646"/>
            <a:ext cx="8138490" cy="519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75F43D-5E96-C6FF-F194-39B287E9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/23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Pontossági mérés beállításai:</a:t>
            </a:r>
          </a:p>
          <a:p>
            <a:pPr lvl="1"/>
            <a:r>
              <a:rPr lang="hu-HU" sz="2800" dirty="0"/>
              <a:t>Szintetikus adathalmaz:</a:t>
            </a:r>
          </a:p>
          <a:p>
            <a:pPr lvl="2"/>
            <a:r>
              <a:rPr lang="hu-HU" sz="2400" dirty="0"/>
              <a:t>500 dimenziós vektorok</a:t>
            </a:r>
          </a:p>
          <a:p>
            <a:pPr lvl="2"/>
            <a:r>
              <a:rPr lang="hu-HU" sz="2400" dirty="0"/>
              <a:t>10.000 adatpont</a:t>
            </a:r>
          </a:p>
          <a:p>
            <a:pPr lvl="2"/>
            <a:r>
              <a:rPr lang="hu-HU" sz="2400" dirty="0"/>
              <a:t>200, 300, 400, 500, 800 klaszter</a:t>
            </a:r>
          </a:p>
          <a:p>
            <a:pPr lvl="2"/>
            <a:r>
              <a:rPr lang="hu-HU" sz="2400" dirty="0"/>
              <a:t>Minden klaszterszámra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sz="2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706CA3B-1CFC-6554-FE05-C02C44B7B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/23</a:t>
            </a:r>
          </a:p>
        </p:txBody>
      </p:sp>
      <p:pic>
        <p:nvPicPr>
          <p:cNvPr id="13" name="Tartalom helye 12" descr="A képen szöveg, képernyőkép, Betűtípus, szám látható&#10;&#10;Automatikusan generált leírás">
            <a:extLst>
              <a:ext uri="{FF2B5EF4-FFF2-40B4-BE49-F238E27FC236}">
                <a16:creationId xmlns:a16="http://schemas.microsoft.com/office/drawing/2014/main" id="{064548B2-D930-DEC7-0BF1-99A02E296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780" y="1317287"/>
            <a:ext cx="7806440" cy="5412465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/23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4FACBE2-2C8B-8AAE-B2F1-5B95A68DA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525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/23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55A286-E27A-84E1-58E0-3747F6853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8450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/23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20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2026. 01. 07.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21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8" name="Tartalom helye 8" descr="A képen képernyőkép, diagram, sor látható&#10;&#10;Automatikusan generált leírás">
            <a:extLst>
              <a:ext uri="{FF2B5EF4-FFF2-40B4-BE49-F238E27FC236}">
                <a16:creationId xmlns:a16="http://schemas.microsoft.com/office/drawing/2014/main" id="{EDFB7719-4604-56A1-6B5F-091C2C0374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89" y="2025741"/>
            <a:ext cx="10231623" cy="4473488"/>
          </a:xfrm>
        </p:spPr>
      </p:pic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614176-4EBA-9C4A-5FDA-3CBC1D773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3A1FAD-606A-5828-938D-73C321CF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„A dolgozatban a </a:t>
            </a:r>
            <a:r>
              <a:rPr lang="hu-HU" dirty="0" err="1"/>
              <a:t>retrieval</a:t>
            </a:r>
            <a:r>
              <a:rPr lang="hu-HU" dirty="0"/>
              <a:t> során alkalmazott 0,6-os hasonlósági küszöbérték a </a:t>
            </a:r>
            <a:r>
              <a:rPr lang="hu-HU" dirty="0" err="1"/>
              <a:t>chunkolási</a:t>
            </a:r>
            <a:r>
              <a:rPr lang="hu-HU" dirty="0"/>
              <a:t> eljárásból származik. Milyen hatással lenne a rendszer teljesítményére ennek a paraméternek a változtatása?”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A rendszer pontossága függ a paraméter megválasztásától.</a:t>
            </a:r>
          </a:p>
          <a:p>
            <a:r>
              <a:rPr lang="hu-HU" dirty="0"/>
              <a:t>Paraméter növelése: Növekvő hamis negatív arány</a:t>
            </a:r>
          </a:p>
          <a:p>
            <a:r>
              <a:rPr lang="hu-HU" dirty="0"/>
              <a:t>Paraméter csökkentése: Több zaj és hamis pozitív</a:t>
            </a:r>
          </a:p>
          <a:p>
            <a:pPr marL="0" indent="0">
              <a:buNone/>
            </a:pPr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EB153C-BED5-14B3-D9E5-D1C2AC78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C1B7534-0033-B93B-0AB6-CDF50329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38125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91160E-3CFC-51F4-0D64-B37431A4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1. Kérdés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895B76-EC99-4CD9-78E8-9824BC16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5FFE7B-BCCA-F723-ACE8-474D143B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27" name="Kép 26" descr="A képen szöveg, sor, Diagram, Betűtípus látható&#10;&#10;Automatikusan generált leírás">
            <a:extLst>
              <a:ext uri="{FF2B5EF4-FFF2-40B4-BE49-F238E27FC236}">
                <a16:creationId xmlns:a16="http://schemas.microsoft.com/office/drawing/2014/main" id="{EFF63355-4441-C47C-C10A-AE24B3BE7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14" y="1374388"/>
            <a:ext cx="12012385" cy="546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175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CC6560-EBDE-281E-540B-F2359973F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Kérdés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F847F5-DC62-8074-5FE4-7C47CB17B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017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dirty="0"/>
              <a:t>„Milyen területeken jelenthet előnyt a kidolgozott Online </a:t>
            </a:r>
            <a:r>
              <a:rPr lang="hu-HU" dirty="0" err="1"/>
              <a:t>KMeans</a:t>
            </a:r>
            <a:r>
              <a:rPr lang="hu-HU" dirty="0"/>
              <a:t> algoritmus, illetve alkalmazás során milyen </a:t>
            </a:r>
            <a:r>
              <a:rPr lang="hu-HU" dirty="0" err="1"/>
              <a:t>limitációkat</a:t>
            </a:r>
            <a:r>
              <a:rPr lang="hu-HU" dirty="0"/>
              <a:t> érdemes szem előtt tartani?”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dirty="0"/>
              <a:t>Előnyök:</a:t>
            </a:r>
          </a:p>
          <a:p>
            <a:r>
              <a:rPr lang="hu-HU" dirty="0"/>
              <a:t>D</a:t>
            </a:r>
            <a:r>
              <a:rPr lang="hu-HU"/>
              <a:t>inamikusan </a:t>
            </a:r>
            <a:r>
              <a:rPr lang="hu-HU" dirty="0"/>
              <a:t>változó adathalmazok (pl.: valós idejű hírfolyam)</a:t>
            </a:r>
          </a:p>
          <a:p>
            <a:r>
              <a:rPr lang="hu-HU" dirty="0"/>
              <a:t>Adaptív struktúra (ha az adatok eloszlása időben változik)</a:t>
            </a:r>
          </a:p>
          <a:p>
            <a:pPr marL="0" indent="0">
              <a:buNone/>
            </a:pPr>
            <a:r>
              <a:rPr lang="hu-HU" dirty="0" err="1"/>
              <a:t>Limitációk</a:t>
            </a:r>
            <a:r>
              <a:rPr lang="hu-HU" dirty="0"/>
              <a:t>:</a:t>
            </a:r>
          </a:p>
          <a:p>
            <a:r>
              <a:rPr lang="hu-HU" dirty="0"/>
              <a:t>Sorrendfüggőség: érzékeny az adatok sorrendjére</a:t>
            </a:r>
          </a:p>
          <a:p>
            <a:r>
              <a:rPr lang="hu-HU" dirty="0"/>
              <a:t>Paraméterérzékenység: „</a:t>
            </a:r>
            <a:r>
              <a:rPr lang="hu-HU" dirty="0" err="1"/>
              <a:t>new_cluster_threshold</a:t>
            </a:r>
            <a:r>
              <a:rPr lang="hu-HU" dirty="0"/>
              <a:t>”, „</a:t>
            </a:r>
            <a:r>
              <a:rPr lang="hu-HU" dirty="0" err="1"/>
              <a:t>merge_threshold</a:t>
            </a:r>
            <a:r>
              <a:rPr lang="hu-HU" dirty="0"/>
              <a:t>” helyes beállítása fontos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396132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4523</TotalTime>
  <Words>2654</Words>
  <Application>Microsoft Macintosh PowerPoint</Application>
  <PresentationFormat>Szélesvásznú</PresentationFormat>
  <Paragraphs>346</Paragraphs>
  <Slides>26</Slides>
  <Notes>25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Times New Roman</vt:lpstr>
      <vt:lpstr>Office-téma</vt:lpstr>
      <vt:lpstr>Klaszterezési technikák alkalmazása az embedding-alapú visszakeresés hatékonyságának növelésére RAG környezetben</vt:lpstr>
      <vt:lpstr>Retrieval Augmented Generation</vt:lpstr>
      <vt:lpstr>Kutatásom célja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1. Kérdés</vt:lpstr>
      <vt:lpstr>1. Kérdés</vt:lpstr>
      <vt:lpstr>2. Kérdés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519</cp:revision>
  <cp:lastPrinted>2025-11-09T09:32:58Z</cp:lastPrinted>
  <dcterms:created xsi:type="dcterms:W3CDTF">2025-10-16T06:59:48Z</dcterms:created>
  <dcterms:modified xsi:type="dcterms:W3CDTF">2026-01-07T21:46:29Z</dcterms:modified>
</cp:coreProperties>
</file>